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60"/>
  </p:notesMasterIdLst>
  <p:sldIdLst>
    <p:sldId id="257" r:id="rId2"/>
    <p:sldId id="258" r:id="rId3"/>
    <p:sldId id="259" r:id="rId4"/>
    <p:sldId id="270" r:id="rId5"/>
    <p:sldId id="260" r:id="rId6"/>
    <p:sldId id="261" r:id="rId7"/>
    <p:sldId id="265" r:id="rId8"/>
    <p:sldId id="266" r:id="rId9"/>
    <p:sldId id="267" r:id="rId10"/>
    <p:sldId id="268" r:id="rId11"/>
    <p:sldId id="263" r:id="rId12"/>
    <p:sldId id="264" r:id="rId13"/>
    <p:sldId id="269" r:id="rId14"/>
    <p:sldId id="271" r:id="rId15"/>
    <p:sldId id="280" r:id="rId16"/>
    <p:sldId id="273" r:id="rId17"/>
    <p:sldId id="274" r:id="rId18"/>
    <p:sldId id="275" r:id="rId19"/>
    <p:sldId id="276" r:id="rId20"/>
    <p:sldId id="277" r:id="rId21"/>
    <p:sldId id="279" r:id="rId22"/>
    <p:sldId id="281" r:id="rId23"/>
    <p:sldId id="278" r:id="rId24"/>
    <p:sldId id="282" r:id="rId25"/>
    <p:sldId id="283" r:id="rId26"/>
    <p:sldId id="286" r:id="rId27"/>
    <p:sldId id="285" r:id="rId28"/>
    <p:sldId id="284" r:id="rId29"/>
    <p:sldId id="288" r:id="rId30"/>
    <p:sldId id="289" r:id="rId31"/>
    <p:sldId id="291" r:id="rId32"/>
    <p:sldId id="290" r:id="rId33"/>
    <p:sldId id="292" r:id="rId34"/>
    <p:sldId id="293" r:id="rId35"/>
    <p:sldId id="310" r:id="rId36"/>
    <p:sldId id="314" r:id="rId37"/>
    <p:sldId id="315" r:id="rId38"/>
    <p:sldId id="316" r:id="rId39"/>
    <p:sldId id="311" r:id="rId40"/>
    <p:sldId id="312" r:id="rId41"/>
    <p:sldId id="313" r:id="rId42"/>
    <p:sldId id="318" r:id="rId43"/>
    <p:sldId id="319" r:id="rId44"/>
    <p:sldId id="294" r:id="rId45"/>
    <p:sldId id="295" r:id="rId46"/>
    <p:sldId id="296" r:id="rId47"/>
    <p:sldId id="298" r:id="rId48"/>
    <p:sldId id="297" r:id="rId49"/>
    <p:sldId id="303" r:id="rId50"/>
    <p:sldId id="299" r:id="rId51"/>
    <p:sldId id="301" r:id="rId52"/>
    <p:sldId id="304" r:id="rId53"/>
    <p:sldId id="307" r:id="rId54"/>
    <p:sldId id="309" r:id="rId55"/>
    <p:sldId id="308" r:id="rId56"/>
    <p:sldId id="305" r:id="rId57"/>
    <p:sldId id="302" r:id="rId58"/>
    <p:sldId id="300" r:id="rId59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0000"/>
    <a:srgbClr val="0066FF"/>
    <a:srgbClr val="271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88" autoAdjust="0"/>
  </p:normalViewPr>
  <p:slideViewPr>
    <p:cSldViewPr>
      <p:cViewPr varScale="1">
        <p:scale>
          <a:sx n="217" d="100"/>
          <a:sy n="217" d="100"/>
        </p:scale>
        <p:origin x="105" y="1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A025-B680-4046-800B-5A6B5AC6AF73}" type="datetimeFigureOut">
              <a:rPr lang="nl-NL" smtClean="0"/>
              <a:t>14-3-2023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FEE08-4F1D-4773-84E0-0730640F7E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330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201" y="766684"/>
            <a:ext cx="2236528" cy="343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337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" t="2279" r="85717" b="67123"/>
          <a:stretch/>
        </p:blipFill>
        <p:spPr>
          <a:xfrm>
            <a:off x="355278" y="121024"/>
            <a:ext cx="1511243" cy="2072915"/>
          </a:xfrm>
          <a:prstGeom prst="rect">
            <a:avLst/>
          </a:prstGeom>
        </p:spPr>
      </p:pic>
      <p:sp>
        <p:nvSpPr>
          <p:cNvPr id="9" name="Tijdelijke aanduiding voor tekst 6"/>
          <p:cNvSpPr>
            <a:spLocks noGrp="1"/>
          </p:cNvSpPr>
          <p:nvPr>
            <p:ph type="body" sz="quarter" idx="12" hasCustomPrompt="1"/>
          </p:nvPr>
        </p:nvSpPr>
        <p:spPr>
          <a:xfrm>
            <a:off x="539552" y="4227934"/>
            <a:ext cx="7992690" cy="288032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1600" b="0" kern="1200" spc="40" baseline="0" dirty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Naam auteur</a:t>
            </a:r>
          </a:p>
        </p:txBody>
      </p:sp>
      <p:sp>
        <p:nvSpPr>
          <p:cNvPr id="10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4515966"/>
            <a:ext cx="7992690" cy="288032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1600" b="0" kern="1200" spc="40" baseline="0" dirty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Optioneel datum</a:t>
            </a:r>
            <a:endParaRPr lang="nl-NL" dirty="0"/>
          </a:p>
        </p:txBody>
      </p:sp>
      <p:sp>
        <p:nvSpPr>
          <p:cNvPr id="11" name="Tijdelijke aanduiding voor tekst 6"/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2283718"/>
            <a:ext cx="7992690" cy="1025897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3000" b="1" kern="1200" spc="60" baseline="0" dirty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Titel</a:t>
            </a:r>
          </a:p>
          <a:p>
            <a:pPr lvl="0"/>
            <a:r>
              <a:rPr lang="nl-NL" dirty="0" smtClean="0"/>
              <a:t>regel2</a:t>
            </a:r>
            <a:endParaRPr lang="nl-NL" dirty="0"/>
          </a:p>
        </p:txBody>
      </p:sp>
      <p:sp>
        <p:nvSpPr>
          <p:cNvPr id="12" name="Tijdelijke aanduiding voor tekst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552" y="3363838"/>
            <a:ext cx="7992690" cy="792088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nl-NL" sz="2400" b="0" kern="1200" spc="40" baseline="0" dirty="0">
                <a:solidFill>
                  <a:srgbClr val="00A1CD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Titel</a:t>
            </a:r>
          </a:p>
          <a:p>
            <a:pPr lvl="0"/>
            <a:r>
              <a:rPr lang="nl-NL" dirty="0" smtClean="0"/>
              <a:t>regel2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4125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 anchor="ctr"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059582"/>
            <a:ext cx="7776864" cy="9361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Tekst</a:t>
            </a:r>
          </a:p>
        </p:txBody>
      </p:sp>
      <p:sp>
        <p:nvSpPr>
          <p:cNvPr id="12" name="Tijdelijke aanduiding voor tekst 9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2211710"/>
            <a:ext cx="7776864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Tekst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776864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087049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563638"/>
            <a:ext cx="7632848" cy="30963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Tekst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1080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Titel over 2 regels</a:t>
            </a:r>
          </a:p>
          <a:p>
            <a:pPr lvl="0"/>
            <a:r>
              <a:rPr lang="nl-NL" dirty="0" err="1" smtClean="0"/>
              <a:t>Calibri</a:t>
            </a:r>
            <a:r>
              <a:rPr lang="nl-NL" dirty="0" smtClean="0"/>
              <a:t> </a:t>
            </a:r>
            <a:r>
              <a:rPr lang="nl-NL" dirty="0" err="1" smtClean="0"/>
              <a:t>bold</a:t>
            </a:r>
            <a:r>
              <a:rPr lang="nl-NL" dirty="0" smtClean="0"/>
              <a:t> 30</a:t>
            </a:r>
          </a:p>
        </p:txBody>
      </p:sp>
    </p:spTree>
    <p:extLst>
      <p:ext uri="{BB962C8B-B14F-4D97-AF65-F5344CB8AC3E}">
        <p14:creationId xmlns:p14="http://schemas.microsoft.com/office/powerpoint/2010/main" val="1389383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987574"/>
            <a:ext cx="7632848" cy="36724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Tekst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5040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Titel 1 regel</a:t>
            </a:r>
          </a:p>
        </p:txBody>
      </p:sp>
    </p:spTree>
    <p:extLst>
      <p:ext uri="{BB962C8B-B14F-4D97-AF65-F5344CB8AC3E}">
        <p14:creationId xmlns:p14="http://schemas.microsoft.com/office/powerpoint/2010/main" val="2218985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ofdstuktitel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 userDrawn="1"/>
        </p:nvSpPr>
        <p:spPr>
          <a:xfrm>
            <a:off x="-3398" y="0"/>
            <a:ext cx="9144000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5" name="Rechthoek 4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494" y="4049744"/>
            <a:ext cx="589730" cy="546416"/>
          </a:xfrm>
          <a:prstGeom prst="rect">
            <a:avLst/>
          </a:prstGeom>
        </p:spPr>
      </p:pic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300494" y="4708252"/>
            <a:ext cx="589730" cy="324000"/>
          </a:xfrm>
          <a:prstGeom prst="rect">
            <a:avLst/>
          </a:prstGeom>
        </p:spPr>
        <p:txBody>
          <a:bodyPr/>
          <a:lstStyle/>
          <a:p>
            <a:pPr algn="ctr"/>
            <a:fld id="{845CA951-4815-4987-9CD6-BB5D6648C0B5}" type="slidenum">
              <a:rPr lang="nl-NL" sz="1200">
                <a:solidFill>
                  <a:schemeClr val="bg1"/>
                </a:solidFill>
              </a:rPr>
              <a:pPr algn="ctr"/>
              <a:t>‹nr.›</a:t>
            </a:fld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611560" y="2006575"/>
            <a:ext cx="7776863" cy="565175"/>
          </a:xfrm>
          <a:prstGeom prst="rect">
            <a:avLst/>
          </a:prstGeom>
        </p:spPr>
        <p:txBody>
          <a:bodyPr/>
          <a:lstStyle>
            <a:lvl1pPr algn="l">
              <a:defRPr lang="nl-NL" sz="3000" b="1" kern="1200" spc="6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sz="3000" b="1" dirty="0" smtClean="0">
                <a:solidFill>
                  <a:schemeClr val="bg1"/>
                </a:solidFill>
              </a:rPr>
              <a:t>Hoofdstuk titel</a:t>
            </a:r>
            <a:endParaRPr lang="nl-NL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24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omming stre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203598"/>
            <a:ext cx="7632079" cy="3455715"/>
          </a:xfrm>
          <a:prstGeom prst="rect">
            <a:avLst/>
          </a:prstGeom>
        </p:spPr>
        <p:txBody>
          <a:bodyPr/>
          <a:lstStyle>
            <a:lvl1pPr marL="342900" indent="-342900">
              <a:buFont typeface="Calibri" pitchFamily="34" charset="0"/>
              <a:buChar char="─"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742950" indent="-28575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2pPr>
            <a:lvl3pPr marL="11430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3pPr>
            <a:lvl4pPr marL="16002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4pPr>
            <a:lvl5pPr marL="20574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5pPr>
          </a:lstStyle>
          <a:p>
            <a:pPr lvl="0"/>
            <a:r>
              <a:rPr lang="nl-NL" sz="2400" dirty="0" smtClean="0">
                <a:solidFill>
                  <a:srgbClr val="271D6C"/>
                </a:solidFill>
              </a:rPr>
              <a:t>Opsomming tekst</a:t>
            </a:r>
          </a:p>
        </p:txBody>
      </p:sp>
      <p:sp>
        <p:nvSpPr>
          <p:cNvPr id="6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2373999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omming numm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203599"/>
            <a:ext cx="7632079" cy="3455714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400" spc="40" baseline="0">
                <a:solidFill>
                  <a:srgbClr val="271D6C"/>
                </a:solidFill>
                <a:latin typeface="Calibri" pitchFamily="34" charset="0"/>
              </a:defRPr>
            </a:lvl1pPr>
            <a:lvl2pPr marL="742950" indent="-28575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2pPr>
            <a:lvl3pPr marL="11430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3pPr>
            <a:lvl4pPr marL="16002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4pPr>
            <a:lvl5pPr marL="20574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5pPr>
          </a:lstStyle>
          <a:p>
            <a:pPr lvl="0"/>
            <a:r>
              <a:rPr lang="nl-NL" sz="2400" dirty="0" smtClean="0">
                <a:solidFill>
                  <a:srgbClr val="271D6C"/>
                </a:solidFill>
              </a:rPr>
              <a:t>Opsomming met nummering</a:t>
            </a:r>
          </a:p>
        </p:txBody>
      </p:sp>
      <p:sp>
        <p:nvSpPr>
          <p:cNvPr id="7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467544" y="339502"/>
            <a:ext cx="7632848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76121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e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 dirty="0"/>
          </a:p>
        </p:txBody>
      </p:sp>
      <p:sp>
        <p:nvSpPr>
          <p:cNvPr id="5" name="Rechthoek 4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494" y="4049744"/>
            <a:ext cx="589730" cy="546416"/>
          </a:xfrm>
          <a:prstGeom prst="rect">
            <a:avLst/>
          </a:prstGeom>
        </p:spPr>
      </p:pic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300494" y="4708252"/>
            <a:ext cx="589730" cy="32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206374"/>
            <a:ext cx="7715746" cy="936000"/>
          </a:xfrm>
          <a:prstGeom prst="rect">
            <a:avLst/>
          </a:prstGeom>
        </p:spPr>
        <p:txBody>
          <a:bodyPr/>
          <a:lstStyle>
            <a:lvl1pPr algn="l">
              <a:defRPr lang="nl-NL" sz="3000" b="1" kern="1200" spc="6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sz="3000" b="1" dirty="0" smtClean="0">
                <a:solidFill>
                  <a:schemeClr val="bg1"/>
                </a:solidFill>
              </a:rPr>
              <a:t>Conclusies / trends / …</a:t>
            </a:r>
            <a:endParaRPr lang="nl-NL" sz="3000" b="1" dirty="0">
              <a:solidFill>
                <a:schemeClr val="bg1"/>
              </a:solidFill>
            </a:endParaRP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1214041"/>
            <a:ext cx="7704137" cy="3382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Calibri" pitchFamily="34" charset="0"/>
              <a:buChar char="─"/>
              <a:defRPr sz="2400" b="0">
                <a:solidFill>
                  <a:schemeClr val="bg1"/>
                </a:solidFill>
              </a:defRPr>
            </a:lvl1pPr>
            <a:lvl2pPr marL="4572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 typeface="Calibri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 smtClean="0"/>
              <a:t>Korte opsomming van conclusies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6362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e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203325"/>
            <a:ext cx="7704087" cy="3455988"/>
          </a:xfrm>
          <a:prstGeom prst="rect">
            <a:avLst/>
          </a:prstGeom>
        </p:spPr>
        <p:txBody>
          <a:bodyPr/>
          <a:lstStyle>
            <a:lvl1pPr marL="342900" indent="-342900">
              <a:buFont typeface="Calibri" pitchFamily="34" charset="0"/>
              <a:buChar char="─"/>
              <a:defRPr lang="nl-NL" sz="2400" b="0" kern="1200" spc="40" baseline="0" dirty="0" smtClean="0">
                <a:solidFill>
                  <a:srgbClr val="271D6C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2pPr>
            <a:lvl3pPr marL="11430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3pPr>
            <a:lvl4pPr marL="16002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4pPr>
            <a:lvl5pPr marL="2057400" indent="-228600">
              <a:buFont typeface="Calibri" pitchFamily="34" charset="0"/>
              <a:buChar char="-"/>
              <a:defRPr sz="2400" baseline="0">
                <a:solidFill>
                  <a:srgbClr val="271D6C"/>
                </a:solidFill>
                <a:latin typeface="Calibri" pitchFamily="34" charset="0"/>
              </a:defRPr>
            </a:lvl5pPr>
          </a:lstStyle>
          <a:p>
            <a:pPr lvl="0"/>
            <a:r>
              <a:rPr lang="nl-NL" sz="2400" dirty="0" smtClean="0">
                <a:solidFill>
                  <a:srgbClr val="271D6C"/>
                </a:solidFill>
              </a:rPr>
              <a:t>Korte opsomming van conclusies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195263"/>
            <a:ext cx="7704087" cy="9363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 spc="60" baseline="0">
                <a:solidFill>
                  <a:srgbClr val="00A1CD"/>
                </a:solidFill>
                <a:latin typeface="Calibri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smtClean="0"/>
              <a:t>Conclusie / trends / …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96824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_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52914" y="1028651"/>
            <a:ext cx="1431167" cy="2198935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0" y="3672000"/>
            <a:ext cx="7166794" cy="84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83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_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52914" y="1028651"/>
            <a:ext cx="1431167" cy="2198935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35" y="3672000"/>
            <a:ext cx="7167542" cy="8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33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14" name="Rechthoek 13"/>
          <p:cNvSpPr/>
          <p:nvPr userDrawn="1"/>
        </p:nvSpPr>
        <p:spPr>
          <a:xfrm>
            <a:off x="8890224" y="0"/>
            <a:ext cx="253776" cy="5143500"/>
          </a:xfrm>
          <a:prstGeom prst="rect">
            <a:avLst/>
          </a:prstGeom>
          <a:solidFill>
            <a:srgbClr val="00A1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300494" y="4708252"/>
            <a:ext cx="589730" cy="324000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rgbClr val="271D6C"/>
                </a:solidFill>
              </a:defRPr>
            </a:lvl1pPr>
          </a:lstStyle>
          <a:p>
            <a:pPr algn="ctr"/>
            <a:fld id="{845CA951-4815-4987-9CD6-BB5D6648C0B5}" type="slidenum">
              <a:rPr lang="nl-NL" sz="1200" smtClean="0"/>
              <a:pPr algn="ctr"/>
              <a:t>‹nr.›</a:t>
            </a:fld>
            <a:endParaRPr lang="nl-NL" sz="1200" dirty="0"/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494" y="4049744"/>
            <a:ext cx="589730" cy="54641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5285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3" r:id="rId2"/>
    <p:sldLayoutId id="2147483660" r:id="rId3"/>
    <p:sldLayoutId id="2147483661" r:id="rId4"/>
    <p:sldLayoutId id="2147483665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55" r:id="rId11"/>
    <p:sldLayoutId id="2147483666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shiny.rstudio.com/" TargetMode="Externa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://github/git/SBM_Landbouw/Slachtingen.git" TargetMode="Externa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 smtClean="0"/>
              <a:t>Nicolette de Bruijn en Kenneth Chin-A-Fat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 smtClean="0"/>
              <a:t>Dinsdag 29 mei 2018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Statistiek Slachtingen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smtClean="0"/>
              <a:t>Het nieuwe systeem in vogelvlucht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666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Van levering naar publicatie (SIPOC)</a:t>
            </a:r>
            <a:endParaRPr lang="nl-NL" dirty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83281"/>
            <a:ext cx="5616624" cy="3739884"/>
          </a:xfrm>
          <a:prstGeom prst="rect">
            <a:avLst/>
          </a:prstGeom>
        </p:spPr>
      </p:pic>
      <p:sp>
        <p:nvSpPr>
          <p:cNvPr id="7" name="Tijdelijke aanduiding voor dianummer 1"/>
          <p:cNvSpPr>
            <a:spLocks noGrp="1"/>
          </p:cNvSpPr>
          <p:nvPr>
            <p:ph type="sldNum" sz="quarter" idx="10"/>
          </p:nvPr>
        </p:nvSpPr>
        <p:spPr>
          <a:xfrm>
            <a:off x="8300494" y="4708252"/>
            <a:ext cx="589730" cy="324000"/>
          </a:xfrm>
        </p:spPr>
        <p:txBody>
          <a:bodyPr/>
          <a:lstStyle/>
          <a:p>
            <a:pPr algn="ctr"/>
            <a:fld id="{0C5DA467-6D4C-4AE3-880C-36BEB717738E}" type="slidenum">
              <a:rPr lang="nl-NL" sz="1200" smtClean="0"/>
              <a:t>2</a:t>
            </a:fld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1618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Datastromen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78469"/>
            <a:ext cx="6048672" cy="371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5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</a:t>
            </a:fld>
            <a:endParaRPr lang="nl-NL" sz="1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64" y="843558"/>
            <a:ext cx="3707904" cy="4020017"/>
          </a:xfrm>
          <a:prstGeom prst="rect">
            <a:avLst/>
          </a:prstGeom>
        </p:spPr>
      </p:pic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Datastromen vs. gui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5" y="1372849"/>
            <a:ext cx="3949124" cy="242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5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</a:t>
            </a:fld>
            <a:endParaRPr lang="nl-NL" sz="12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Datastromen (stand mei 2018)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87574"/>
            <a:ext cx="6084754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90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6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nl-NL" dirty="0" err="1"/>
              <a:t>c</a:t>
            </a:r>
            <a:r>
              <a:rPr lang="nl-NL" dirty="0" err="1" smtClean="0"/>
              <a:t>tcr</a:t>
            </a:r>
            <a:r>
              <a:rPr lang="nl-NL" dirty="0" smtClean="0"/>
              <a:t> = controle- en correctie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Vier</a:t>
            </a:r>
            <a:r>
              <a:rPr lang="en-US" dirty="0" smtClean="0"/>
              <a:t> </a:t>
            </a:r>
            <a:r>
              <a:rPr lang="en-US" dirty="0" err="1" smtClean="0"/>
              <a:t>dimensies</a:t>
            </a:r>
            <a:r>
              <a:rPr lang="en-US" dirty="0" smtClean="0"/>
              <a:t>: </a:t>
            </a:r>
          </a:p>
          <a:p>
            <a:r>
              <a:rPr lang="en-US" dirty="0" err="1" smtClean="0"/>
              <a:t>slachtbedrijf</a:t>
            </a:r>
            <a:r>
              <a:rPr lang="en-US" dirty="0" smtClean="0"/>
              <a:t>, </a:t>
            </a:r>
            <a:r>
              <a:rPr lang="en-US" dirty="0" err="1" smtClean="0"/>
              <a:t>diersoort</a:t>
            </a:r>
            <a:r>
              <a:rPr lang="en-US" dirty="0" smtClean="0"/>
              <a:t>, </a:t>
            </a:r>
            <a:r>
              <a:rPr lang="en-US" dirty="0" err="1" smtClean="0"/>
              <a:t>verwerkingsmaand</a:t>
            </a:r>
            <a:r>
              <a:rPr lang="en-US" dirty="0" smtClean="0"/>
              <a:t>, </a:t>
            </a:r>
            <a:r>
              <a:rPr lang="en-US" dirty="0" err="1" smtClean="0"/>
              <a:t>verslagmaand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 smtClean="0"/>
              <a:t>Vb</a:t>
            </a:r>
            <a:r>
              <a:rPr lang="nl-NL" dirty="0" smtClean="0"/>
              <a:t> </a:t>
            </a:r>
            <a:r>
              <a:rPr lang="nl-NL" dirty="0" err="1" smtClean="0"/>
              <a:t>ctcr</a:t>
            </a:r>
            <a:r>
              <a:rPr lang="nl-NL" dirty="0" smtClean="0"/>
              <a:t>-bestand aantallen roodvlees 201802</a:t>
            </a:r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10" y="1491630"/>
            <a:ext cx="8064896" cy="218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7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Heeft</a:t>
            </a:r>
            <a:r>
              <a:rPr lang="en-US" dirty="0" smtClean="0"/>
              <a:t> </a:t>
            </a:r>
            <a:r>
              <a:rPr lang="en-US" dirty="0" err="1" smtClean="0"/>
              <a:t>naam</a:t>
            </a:r>
            <a:r>
              <a:rPr lang="en-US" dirty="0" smtClean="0"/>
              <a:t> (</a:t>
            </a:r>
            <a:r>
              <a:rPr lang="en-US" dirty="0" err="1" smtClean="0"/>
              <a:t>slnm</a:t>
            </a:r>
            <a:r>
              <a:rPr lang="en-US" dirty="0" smtClean="0"/>
              <a:t>)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werkpleknummer</a:t>
            </a:r>
            <a:r>
              <a:rPr lang="en-US" dirty="0" smtClean="0"/>
              <a:t> (</a:t>
            </a:r>
            <a:r>
              <a:rPr lang="en-US" dirty="0" err="1" smtClean="0"/>
              <a:t>wrkp</a:t>
            </a:r>
            <a:r>
              <a:rPr lang="en-US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slachtbedrijf</a:t>
            </a:r>
            <a:r>
              <a:rPr lang="en-US" dirty="0" smtClean="0"/>
              <a:t> </a:t>
            </a:r>
            <a:r>
              <a:rPr lang="en-US" dirty="0" err="1" smtClean="0"/>
              <a:t>kan</a:t>
            </a:r>
            <a:r>
              <a:rPr lang="en-US" dirty="0" smtClean="0"/>
              <a:t> </a:t>
            </a:r>
            <a:r>
              <a:rPr lang="en-US" dirty="0" err="1" smtClean="0"/>
              <a:t>meerdere</a:t>
            </a:r>
            <a:r>
              <a:rPr lang="en-US" dirty="0" smtClean="0"/>
              <a:t> </a:t>
            </a:r>
            <a:r>
              <a:rPr lang="en-US" dirty="0" err="1" smtClean="0"/>
              <a:t>vestigingen</a:t>
            </a:r>
            <a:r>
              <a:rPr lang="en-US" dirty="0" smtClean="0"/>
              <a:t> </a:t>
            </a:r>
            <a:r>
              <a:rPr lang="en-US" dirty="0" err="1" smtClean="0"/>
              <a:t>hebben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Dezelfde</a:t>
            </a:r>
            <a:r>
              <a:rPr lang="en-US" dirty="0" smtClean="0"/>
              <a:t> </a:t>
            </a:r>
            <a:r>
              <a:rPr lang="en-US" sz="2000" dirty="0" err="1"/>
              <a:t>naam</a:t>
            </a:r>
            <a:r>
              <a:rPr lang="en-US" sz="2000" dirty="0"/>
              <a:t>, maar </a:t>
            </a:r>
            <a:r>
              <a:rPr lang="en-US" sz="2000" dirty="0" err="1"/>
              <a:t>ander</a:t>
            </a:r>
            <a:r>
              <a:rPr lang="en-US" sz="2000" dirty="0"/>
              <a:t> </a:t>
            </a:r>
            <a:r>
              <a:rPr lang="en-US" sz="2000" dirty="0" err="1" smtClean="0"/>
              <a:t>werkpleknummer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Werkpleknummer</a:t>
            </a:r>
            <a:r>
              <a:rPr lang="en-US" dirty="0" smtClean="0"/>
              <a:t> is </a:t>
            </a:r>
            <a:r>
              <a:rPr lang="en-US" dirty="0" err="1" smtClean="0"/>
              <a:t>identificerend</a:t>
            </a: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Dimensie</a:t>
            </a:r>
            <a:r>
              <a:rPr lang="en-US" dirty="0" smtClean="0"/>
              <a:t> </a:t>
            </a:r>
            <a:r>
              <a:rPr lang="en-US" dirty="0" err="1" smtClean="0"/>
              <a:t>slachtbedrijf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57" y="2499742"/>
            <a:ext cx="8068791" cy="65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6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8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Diersoort (</a:t>
            </a:r>
            <a:r>
              <a:rPr lang="nl-NL" dirty="0" err="1" smtClean="0"/>
              <a:t>dsrt</a:t>
            </a:r>
            <a:r>
              <a:rPr lang="nl-NL" dirty="0" smtClean="0"/>
              <a:t>)</a:t>
            </a:r>
            <a:endParaRPr lang="nl-NL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levering</a:t>
            </a:r>
            <a:endParaRPr lang="nl-NL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000" dirty="0"/>
              <a:t>DSC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Diersoortcategorie</a:t>
            </a:r>
          </a:p>
          <a:p>
            <a:r>
              <a:rPr lang="nl-NL" dirty="0"/>
              <a:t> </a:t>
            </a:r>
            <a:r>
              <a:rPr lang="nl-NL" dirty="0" smtClean="0"/>
              <a:t>    (</a:t>
            </a:r>
            <a:r>
              <a:rPr lang="nl-NL" dirty="0" err="1" smtClean="0"/>
              <a:t>dcat</a:t>
            </a:r>
            <a:r>
              <a:rPr lang="nl-NL" dirty="0" smtClean="0"/>
              <a:t>)</a:t>
            </a:r>
            <a:endParaRPr lang="nl-NL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Statline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000" dirty="0" err="1" smtClean="0"/>
              <a:t>Eurostat</a:t>
            </a:r>
            <a:endParaRPr lang="nl-NL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Contactpersonen</a:t>
            </a:r>
            <a:endParaRPr lang="nl-NL" sz="2000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Dimensie</a:t>
            </a:r>
            <a:r>
              <a:rPr lang="en-US" dirty="0" smtClean="0"/>
              <a:t> </a:t>
            </a:r>
            <a:r>
              <a:rPr lang="en-US" dirty="0" err="1" smtClean="0"/>
              <a:t>diersoort</a:t>
            </a:r>
            <a:r>
              <a:rPr lang="en-US" dirty="0" smtClean="0"/>
              <a:t>:</a:t>
            </a:r>
          </a:p>
          <a:p>
            <a:pPr algn="ctr"/>
            <a:r>
              <a:rPr lang="en-US" dirty="0" err="1"/>
              <a:t>d</a:t>
            </a:r>
            <a:r>
              <a:rPr lang="en-US" dirty="0" err="1" smtClean="0"/>
              <a:t>iersoort</a:t>
            </a:r>
            <a:r>
              <a:rPr lang="en-US" dirty="0" smtClean="0"/>
              <a:t> vs. </a:t>
            </a:r>
            <a:r>
              <a:rPr lang="en-US" dirty="0" err="1" smtClean="0"/>
              <a:t>diersoortcategorie</a:t>
            </a:r>
            <a:endParaRPr lang="nl-NL" dirty="0"/>
          </a:p>
        </p:txBody>
      </p:sp>
      <p:pic>
        <p:nvPicPr>
          <p:cNvPr id="5" name="Afbeelding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016" y="1484728"/>
            <a:ext cx="4999408" cy="3254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048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9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Verwerkingsmaand</a:t>
            </a:r>
            <a:r>
              <a:rPr lang="en-US" dirty="0" smtClean="0"/>
              <a:t> (</a:t>
            </a:r>
            <a:r>
              <a:rPr lang="en-US" dirty="0" err="1" smtClean="0"/>
              <a:t>vwmd</a:t>
            </a:r>
            <a:r>
              <a:rPr lang="en-US" dirty="0"/>
              <a:t>)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“</a:t>
            </a:r>
            <a:r>
              <a:rPr lang="en-US" sz="2000" dirty="0" err="1"/>
              <a:t>Nieuwste</a:t>
            </a:r>
            <a:r>
              <a:rPr lang="en-US" sz="2000" dirty="0"/>
              <a:t> </a:t>
            </a:r>
            <a:r>
              <a:rPr lang="en-US" sz="2000" dirty="0" err="1"/>
              <a:t>maand</a:t>
            </a:r>
            <a:r>
              <a:rPr lang="en-US" sz="2000" dirty="0"/>
              <a:t>” </a:t>
            </a:r>
            <a:r>
              <a:rPr lang="en-US" sz="2000" dirty="0" smtClean="0"/>
              <a:t>in de </a:t>
            </a:r>
            <a:r>
              <a:rPr lang="en-US" sz="2000" dirty="0" err="1" smtClean="0"/>
              <a:t>verwerking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We </a:t>
            </a:r>
            <a:r>
              <a:rPr lang="en-US" sz="2000" dirty="0" err="1"/>
              <a:t>slaan</a:t>
            </a:r>
            <a:r>
              <a:rPr lang="en-US" sz="2000" dirty="0"/>
              <a:t> </a:t>
            </a:r>
            <a:r>
              <a:rPr lang="en-US" sz="2000" dirty="0" err="1"/>
              <a:t>leveringen</a:t>
            </a:r>
            <a:r>
              <a:rPr lang="en-US" sz="2000" dirty="0"/>
              <a:t> </a:t>
            </a:r>
            <a:r>
              <a:rPr lang="en-US" sz="2000" dirty="0" err="1"/>
              <a:t>ingedeeld</a:t>
            </a:r>
            <a:r>
              <a:rPr lang="en-US" sz="2000" dirty="0"/>
              <a:t> </a:t>
            </a:r>
            <a:r>
              <a:rPr lang="en-US" sz="2000" dirty="0" err="1"/>
              <a:t>naar</a:t>
            </a:r>
            <a:r>
              <a:rPr lang="en-US" sz="2000" dirty="0"/>
              <a:t> </a:t>
            </a:r>
            <a:r>
              <a:rPr lang="en-US" sz="2000" dirty="0" err="1"/>
              <a:t>verwerkingsmaand</a:t>
            </a:r>
            <a:r>
              <a:rPr lang="en-US" sz="2000" dirty="0"/>
              <a:t> op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Maand</a:t>
            </a:r>
            <a:r>
              <a:rPr lang="en-US" sz="2000" dirty="0" smtClean="0"/>
              <a:t> van </a:t>
            </a:r>
            <a:r>
              <a:rPr lang="en-US" sz="2000" dirty="0" err="1" smtClean="0"/>
              <a:t>publicatie</a:t>
            </a:r>
            <a:r>
              <a:rPr lang="en-US" sz="2000" dirty="0" smtClean="0"/>
              <a:t> = </a:t>
            </a:r>
            <a:r>
              <a:rPr lang="en-US" sz="2000" dirty="0" err="1" smtClean="0"/>
              <a:t>verwerkingsmaand</a:t>
            </a:r>
            <a:r>
              <a:rPr lang="en-US" sz="2000" dirty="0" smtClean="0"/>
              <a:t> + 2 </a:t>
            </a:r>
            <a:r>
              <a:rPr lang="en-US" sz="2000" dirty="0" err="1" smtClean="0"/>
              <a:t>maanden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Verslagmaanden</a:t>
            </a:r>
            <a:r>
              <a:rPr lang="en-US" dirty="0" smtClean="0"/>
              <a:t> (</a:t>
            </a:r>
            <a:r>
              <a:rPr lang="en-US" dirty="0" err="1" smtClean="0"/>
              <a:t>vsmd</a:t>
            </a:r>
            <a:r>
              <a:rPr lang="en-US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Maanden</a:t>
            </a:r>
            <a:r>
              <a:rPr lang="en-US" sz="2000" dirty="0" smtClean="0"/>
              <a:t> die </a:t>
            </a:r>
            <a:r>
              <a:rPr lang="en-US" sz="2000" dirty="0" err="1" smtClean="0"/>
              <a:t>gepubliceerd</a:t>
            </a:r>
            <a:r>
              <a:rPr lang="en-US" sz="2000" dirty="0" smtClean="0"/>
              <a:t> </a:t>
            </a:r>
            <a:r>
              <a:rPr lang="en-US" sz="2000" dirty="0" err="1" smtClean="0"/>
              <a:t>worden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4 “</a:t>
            </a:r>
            <a:r>
              <a:rPr lang="en-US" sz="2000" dirty="0" err="1" smtClean="0"/>
              <a:t>nieuwste</a:t>
            </a:r>
            <a:r>
              <a:rPr lang="en-US" sz="2000" dirty="0" smtClean="0"/>
              <a:t> </a:t>
            </a:r>
            <a:r>
              <a:rPr lang="en-US" sz="2000" dirty="0" err="1" smtClean="0"/>
              <a:t>maanden</a:t>
            </a:r>
            <a:r>
              <a:rPr lang="en-US" sz="2000" dirty="0" smtClean="0"/>
              <a:t>” in </a:t>
            </a:r>
            <a:r>
              <a:rPr lang="en-US" sz="2000" dirty="0" err="1" smtClean="0"/>
              <a:t>een</a:t>
            </a:r>
            <a:r>
              <a:rPr lang="en-US" sz="2000" dirty="0" smtClean="0"/>
              <a:t> levering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16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Dimensies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verwerkingsmaand</a:t>
            </a:r>
            <a:r>
              <a:rPr lang="en-US" dirty="0" smtClean="0"/>
              <a:t> vs. </a:t>
            </a:r>
            <a:r>
              <a:rPr lang="en-US" dirty="0" err="1" smtClean="0"/>
              <a:t>verslagmaand</a:t>
            </a:r>
            <a:r>
              <a:rPr lang="en-US" dirty="0" smtClean="0"/>
              <a:t> 	1/2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872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10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Stel</a:t>
            </a:r>
            <a:r>
              <a:rPr lang="en-US" dirty="0"/>
              <a:t> het is nu </a:t>
            </a:r>
            <a:r>
              <a:rPr lang="en-US" dirty="0" smtClean="0"/>
              <a:t>201804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</a:t>
            </a:r>
            <a:r>
              <a:rPr lang="en-US" dirty="0" err="1" smtClean="0"/>
              <a:t>gaan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201802 </a:t>
            </a:r>
            <a:r>
              <a:rPr lang="en-US" dirty="0" err="1" smtClean="0"/>
              <a:t>verwerken</a:t>
            </a:r>
            <a:r>
              <a:rPr lang="en-US" dirty="0" smtClean="0"/>
              <a:t> (</a:t>
            </a:r>
            <a:r>
              <a:rPr lang="en-US" dirty="0" err="1" smtClean="0"/>
              <a:t>vwmd</a:t>
            </a:r>
            <a:r>
              <a:rPr lang="en-US" dirty="0" smtClean="0"/>
              <a:t> = 201802)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publiceren</a:t>
            </a:r>
            <a:r>
              <a:rPr lang="en-US" dirty="0" smtClean="0"/>
              <a:t> </a:t>
            </a:r>
            <a:r>
              <a:rPr lang="en-US" dirty="0" err="1" smtClean="0"/>
              <a:t>verslagmaanden</a:t>
            </a:r>
            <a:r>
              <a:rPr lang="en-US" dirty="0" smtClean="0"/>
              <a:t> 201711, 201712, 201801 </a:t>
            </a:r>
            <a:r>
              <a:rPr lang="en-US" dirty="0" err="1" smtClean="0"/>
              <a:t>en</a:t>
            </a:r>
            <a:r>
              <a:rPr lang="en-US" dirty="0" smtClean="0"/>
              <a:t> 201802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6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Dimensies</a:t>
            </a:r>
            <a:r>
              <a:rPr lang="en-US" dirty="0"/>
              <a:t> </a:t>
            </a:r>
          </a:p>
          <a:p>
            <a:r>
              <a:rPr lang="en-US" dirty="0" err="1"/>
              <a:t>verwerkingsmaand</a:t>
            </a:r>
            <a:r>
              <a:rPr lang="en-US" dirty="0"/>
              <a:t> vs. </a:t>
            </a:r>
            <a:r>
              <a:rPr lang="en-US" dirty="0" err="1"/>
              <a:t>verslagmaand</a:t>
            </a:r>
            <a:r>
              <a:rPr lang="en-US" dirty="0"/>
              <a:t> 	</a:t>
            </a:r>
            <a:r>
              <a:rPr lang="en-US" dirty="0" smtClean="0"/>
              <a:t>2/2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 rotWithShape="1">
          <a:blip r:embed="rId2"/>
          <a:srcRect b="50650"/>
          <a:stretch/>
        </p:blipFill>
        <p:spPr>
          <a:xfrm>
            <a:off x="566247" y="1595745"/>
            <a:ext cx="8064896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7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11</a:t>
            </a:fld>
            <a:endParaRPr lang="nl-NL" sz="1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79" y="912446"/>
            <a:ext cx="1104900" cy="1143000"/>
          </a:xfrm>
          <a:prstGeom prst="rect">
            <a:avLst/>
          </a:prstGeom>
        </p:spPr>
      </p:pic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Programmatuur (stand mei 2018)</a:t>
            </a:r>
            <a:endParaRPr lang="nl-NL" dirty="0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912446"/>
            <a:ext cx="2228850" cy="3686175"/>
          </a:xfrm>
          <a:prstGeom prst="rect">
            <a:avLst/>
          </a:prstGeom>
        </p:spPr>
      </p:pic>
      <p:sp>
        <p:nvSpPr>
          <p:cNvPr id="8" name="Linkeraccolade 7"/>
          <p:cNvSpPr/>
          <p:nvPr/>
        </p:nvSpPr>
        <p:spPr>
          <a:xfrm rot="10800000">
            <a:off x="4136555" y="2211710"/>
            <a:ext cx="360040" cy="733767"/>
          </a:xfrm>
          <a:prstGeom prst="lef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Gebogen pijl 11"/>
          <p:cNvSpPr/>
          <p:nvPr/>
        </p:nvSpPr>
        <p:spPr>
          <a:xfrm rot="5400000">
            <a:off x="5025112" y="2092183"/>
            <a:ext cx="173896" cy="108012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4" name="Pijl-rechts 13"/>
          <p:cNvSpPr/>
          <p:nvPr/>
        </p:nvSpPr>
        <p:spPr>
          <a:xfrm>
            <a:off x="1504031" y="1450428"/>
            <a:ext cx="375296" cy="1132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Linkeraccolade 14"/>
          <p:cNvSpPr/>
          <p:nvPr/>
        </p:nvSpPr>
        <p:spPr>
          <a:xfrm>
            <a:off x="1653978" y="3795886"/>
            <a:ext cx="360040" cy="733767"/>
          </a:xfrm>
          <a:prstGeom prst="lef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Tekstvak 15"/>
          <p:cNvSpPr txBox="1"/>
          <p:nvPr/>
        </p:nvSpPr>
        <p:spPr>
          <a:xfrm>
            <a:off x="431764" y="3883322"/>
            <a:ext cx="125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o</a:t>
            </a:r>
            <a:r>
              <a:rPr lang="en-US" dirty="0" err="1" smtClean="0"/>
              <a:t>pstarten</a:t>
            </a:r>
            <a:r>
              <a:rPr lang="en-US" dirty="0" smtClean="0"/>
              <a:t> &amp; Shiny</a:t>
            </a:r>
            <a:endParaRPr lang="nl-NL" dirty="0"/>
          </a:p>
        </p:txBody>
      </p:sp>
      <p:sp>
        <p:nvSpPr>
          <p:cNvPr id="17" name="Pijl-rechts 16"/>
          <p:cNvSpPr/>
          <p:nvPr/>
        </p:nvSpPr>
        <p:spPr>
          <a:xfrm rot="8250480">
            <a:off x="1208132" y="2312281"/>
            <a:ext cx="891693" cy="1412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kstvak 18"/>
          <p:cNvSpPr txBox="1"/>
          <p:nvPr/>
        </p:nvSpPr>
        <p:spPr>
          <a:xfrm>
            <a:off x="179512" y="2645499"/>
            <a:ext cx="1324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 smtClean="0"/>
              <a:t>persoonlijke</a:t>
            </a:r>
            <a:r>
              <a:rPr lang="en-US" dirty="0" smtClean="0"/>
              <a:t> </a:t>
            </a:r>
            <a:r>
              <a:rPr lang="en-US" dirty="0" err="1" smtClean="0"/>
              <a:t>instellingen</a:t>
            </a:r>
            <a:endParaRPr lang="nl-NL" dirty="0"/>
          </a:p>
        </p:txBody>
      </p:sp>
      <p:pic>
        <p:nvPicPr>
          <p:cNvPr id="20" name="Afbeelding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2794133"/>
            <a:ext cx="2992263" cy="183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2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12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nl-NL" dirty="0" smtClean="0"/>
          </a:p>
          <a:p>
            <a:endParaRPr lang="nl-NL" dirty="0"/>
          </a:p>
          <a:p>
            <a:endParaRPr lang="nl-NL" dirty="0" smtClean="0"/>
          </a:p>
          <a:p>
            <a:endParaRPr lang="nl-NL" dirty="0"/>
          </a:p>
          <a:p>
            <a:endParaRPr lang="nl-NL" dirty="0" smtClean="0"/>
          </a:p>
          <a:p>
            <a:endParaRPr lang="nl-NL" dirty="0"/>
          </a:p>
          <a:p>
            <a:endParaRPr lang="nl-NL" dirty="0" smtClean="0"/>
          </a:p>
          <a:p>
            <a:endParaRPr lang="nl-NL" dirty="0"/>
          </a:p>
          <a:p>
            <a:pPr algn="r"/>
            <a:r>
              <a:rPr lang="nl-NL" sz="1800" dirty="0" smtClean="0"/>
              <a:t>http</a:t>
            </a:r>
            <a:r>
              <a:rPr lang="nl-NL" sz="1800" dirty="0"/>
              <a:t>://github/SBM_Landbouw/Slachtingen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Git</a:t>
            </a:r>
            <a:endParaRPr lang="nl-NL" dirty="0"/>
          </a:p>
        </p:txBody>
      </p:sp>
      <p:pic>
        <p:nvPicPr>
          <p:cNvPr id="19" name="Afbeelding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972752"/>
            <a:ext cx="4032448" cy="31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5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13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Vragen</a:t>
            </a:r>
            <a:r>
              <a:rPr lang="en-US" dirty="0" smtClean="0"/>
              <a:t>?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37" y="1504950"/>
            <a:ext cx="22955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8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 smtClean="0"/>
              <a:t>Nicolette de Bruijn en Kenneth Chin-A-Fat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 smtClean="0"/>
              <a:t>Maandag 25 juni 2018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Statistiek Slachtingen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err="1" smtClean="0"/>
              <a:t>start.R</a:t>
            </a:r>
            <a:r>
              <a:rPr lang="nl-NL" dirty="0" smtClean="0"/>
              <a:t>, </a:t>
            </a:r>
            <a:r>
              <a:rPr lang="nl-NL" dirty="0" err="1" smtClean="0"/>
              <a:t>ui.R</a:t>
            </a:r>
            <a:r>
              <a:rPr lang="nl-NL" dirty="0" smtClean="0"/>
              <a:t> en </a:t>
            </a:r>
            <a:r>
              <a:rPr lang="nl-NL" dirty="0" err="1" smtClean="0"/>
              <a:t>server.R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99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15</a:t>
            </a:fld>
            <a:endParaRPr lang="nl-NL" sz="1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7" y="267493"/>
            <a:ext cx="3384376" cy="4680955"/>
          </a:xfrm>
          <a:prstGeom prst="rect">
            <a:avLst/>
          </a:prstGeom>
        </p:spPr>
      </p:pic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docstring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via start_tool.cmd of source</a:t>
            </a:r>
          </a:p>
          <a:p>
            <a:r>
              <a:rPr lang="en-US" dirty="0"/>
              <a:t> </a:t>
            </a:r>
            <a:r>
              <a:rPr lang="en-US" dirty="0" smtClean="0"/>
              <a:t>    in R-Studio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laad</a:t>
            </a:r>
            <a:r>
              <a:rPr lang="en-US" dirty="0" smtClean="0"/>
              <a:t> app.ini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laad</a:t>
            </a:r>
            <a:r>
              <a:rPr lang="en-US" dirty="0" smtClean="0"/>
              <a:t> </a:t>
            </a:r>
            <a:r>
              <a:rPr lang="en-US" dirty="0" err="1" smtClean="0"/>
              <a:t>hier</a:t>
            </a:r>
            <a:r>
              <a:rPr lang="en-US" dirty="0" smtClean="0"/>
              <a:t> </a:t>
            </a:r>
            <a:r>
              <a:rPr lang="en-US" dirty="0" err="1" smtClean="0"/>
              <a:t>alle</a:t>
            </a:r>
            <a:r>
              <a:rPr lang="en-US" dirty="0" smtClean="0"/>
              <a:t>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laad</a:t>
            </a:r>
            <a:r>
              <a:rPr lang="en-US" dirty="0" smtClean="0"/>
              <a:t> </a:t>
            </a:r>
            <a:r>
              <a:rPr lang="en-US" dirty="0" err="1" smtClean="0"/>
              <a:t>alle</a:t>
            </a:r>
            <a:r>
              <a:rPr lang="en-US" dirty="0" smtClean="0"/>
              <a:t>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start shiny</a:t>
            </a: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tart.R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450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16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400" dirty="0" err="1"/>
              <a:t>ui.R</a:t>
            </a:r>
            <a:endParaRPr lang="en-US" sz="3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w</a:t>
            </a:r>
            <a:r>
              <a:rPr lang="en-US" sz="2400" dirty="0" err="1" smtClean="0"/>
              <a:t>elke</a:t>
            </a:r>
            <a:r>
              <a:rPr lang="en-US" sz="2400" dirty="0" smtClean="0"/>
              <a:t> </a:t>
            </a:r>
            <a:r>
              <a:rPr lang="en-US" sz="2400" dirty="0" err="1" smtClean="0"/>
              <a:t>knoppen</a:t>
            </a:r>
            <a:r>
              <a:rPr lang="en-US" sz="2400" dirty="0" smtClean="0"/>
              <a:t> </a:t>
            </a:r>
            <a:r>
              <a:rPr lang="en-US" sz="2400" dirty="0" err="1" smtClean="0"/>
              <a:t>zijn</a:t>
            </a:r>
            <a:r>
              <a:rPr lang="en-US" sz="2400" dirty="0" smtClean="0"/>
              <a:t> </a:t>
            </a:r>
            <a:r>
              <a:rPr lang="en-US" sz="2400" dirty="0" err="1" smtClean="0"/>
              <a:t>er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waar</a:t>
            </a:r>
            <a:r>
              <a:rPr lang="en-US" sz="2400" dirty="0" smtClean="0"/>
              <a:t> </a:t>
            </a:r>
            <a:r>
              <a:rPr lang="en-US" sz="2400" dirty="0" err="1" smtClean="0"/>
              <a:t>staan</a:t>
            </a:r>
            <a:r>
              <a:rPr lang="en-US" sz="2400" dirty="0" smtClean="0"/>
              <a:t> </a:t>
            </a:r>
            <a:r>
              <a:rPr lang="en-US" sz="2400" dirty="0" err="1" smtClean="0"/>
              <a:t>ze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Etc..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400" dirty="0" err="1"/>
              <a:t>server.R</a:t>
            </a:r>
            <a:endParaRPr lang="en-US" sz="3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n</a:t>
            </a:r>
            <a:r>
              <a:rPr lang="en-US" sz="2400" dirty="0" err="1" smtClean="0"/>
              <a:t>a</a:t>
            </a:r>
            <a:r>
              <a:rPr lang="en-US" sz="2400" dirty="0" smtClean="0"/>
              <a:t> het </a:t>
            </a:r>
            <a:r>
              <a:rPr lang="en-US" sz="2400" dirty="0" err="1" smtClean="0"/>
              <a:t>klikken</a:t>
            </a:r>
            <a:r>
              <a:rPr lang="en-US" sz="2400" dirty="0" smtClean="0"/>
              <a:t> op </a:t>
            </a:r>
            <a:r>
              <a:rPr lang="en-US" sz="2400" dirty="0" err="1" smtClean="0"/>
              <a:t>een</a:t>
            </a:r>
            <a:r>
              <a:rPr lang="en-US" sz="2400" dirty="0" smtClean="0"/>
              <a:t> knop, </a:t>
            </a:r>
            <a:r>
              <a:rPr lang="en-US" sz="2400" dirty="0" err="1" smtClean="0"/>
              <a:t>welke</a:t>
            </a:r>
            <a:r>
              <a:rPr lang="en-US" sz="2400" dirty="0" smtClean="0"/>
              <a:t> </a:t>
            </a:r>
            <a:r>
              <a:rPr lang="en-US" sz="2400" dirty="0" err="1" smtClean="0"/>
              <a:t>functionaliteit</a:t>
            </a:r>
            <a:r>
              <a:rPr lang="en-US" sz="2400" dirty="0" smtClean="0"/>
              <a:t> </a:t>
            </a:r>
            <a:r>
              <a:rPr lang="en-US" sz="2400" dirty="0" err="1" smtClean="0"/>
              <a:t>moet</a:t>
            </a:r>
            <a:r>
              <a:rPr lang="en-US" sz="2400" dirty="0" smtClean="0"/>
              <a:t> </a:t>
            </a:r>
            <a:r>
              <a:rPr lang="en-US" sz="2400" dirty="0" err="1" smtClean="0"/>
              <a:t>worden</a:t>
            </a:r>
            <a:r>
              <a:rPr lang="en-US" sz="2400" dirty="0" smtClean="0"/>
              <a:t> </a:t>
            </a:r>
            <a:r>
              <a:rPr lang="en-US" sz="2400" dirty="0" err="1" smtClean="0"/>
              <a:t>uitgevoerd</a:t>
            </a:r>
            <a:r>
              <a:rPr lang="en-US" sz="2400" dirty="0" smtClean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welke</a:t>
            </a:r>
            <a:r>
              <a:rPr lang="en-US" sz="2400" dirty="0" smtClean="0"/>
              <a:t> </a:t>
            </a:r>
            <a:r>
              <a:rPr lang="en-US" sz="2400" dirty="0" err="1" smtClean="0"/>
              <a:t>tekst</a:t>
            </a:r>
            <a:r>
              <a:rPr lang="en-US" sz="2400" dirty="0" smtClean="0"/>
              <a:t> </a:t>
            </a:r>
            <a:r>
              <a:rPr lang="en-US" sz="2400" dirty="0" err="1" smtClean="0"/>
              <a:t>wordt</a:t>
            </a:r>
            <a:r>
              <a:rPr lang="en-US" sz="2400" dirty="0" smtClean="0"/>
              <a:t> in de </a:t>
            </a:r>
            <a:r>
              <a:rPr lang="en-US" sz="2400" dirty="0" err="1" smtClean="0"/>
              <a:t>ui</a:t>
            </a:r>
            <a:r>
              <a:rPr lang="en-US" sz="2400" dirty="0" smtClean="0"/>
              <a:t> </a:t>
            </a:r>
            <a:r>
              <a:rPr lang="en-US" sz="2400" dirty="0" err="1" smtClean="0"/>
              <a:t>getoond</a:t>
            </a:r>
            <a:r>
              <a:rPr lang="en-US" sz="2400" dirty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uitvoering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v</a:t>
            </a:r>
            <a:r>
              <a:rPr lang="en-US" sz="2400" dirty="0" err="1" smtClean="0"/>
              <a:t>erbinding</a:t>
            </a:r>
            <a:r>
              <a:rPr lang="en-US" sz="2400" dirty="0" smtClean="0"/>
              <a:t> </a:t>
            </a:r>
            <a:r>
              <a:rPr lang="en-US" sz="2400" dirty="0" err="1" smtClean="0"/>
              <a:t>tussen</a:t>
            </a:r>
            <a:r>
              <a:rPr lang="en-US" sz="2400" dirty="0" smtClean="0"/>
              <a:t> </a:t>
            </a:r>
            <a:r>
              <a:rPr lang="en-US" sz="2400" dirty="0" err="1" smtClean="0"/>
              <a:t>ui.R</a:t>
            </a:r>
            <a:r>
              <a:rPr lang="en-US" sz="2400" dirty="0" smtClean="0"/>
              <a:t> </a:t>
            </a:r>
            <a:r>
              <a:rPr lang="en-US" sz="2400" dirty="0" err="1" smtClean="0"/>
              <a:t>en</a:t>
            </a:r>
            <a:r>
              <a:rPr lang="en-US" sz="2400" dirty="0" smtClean="0"/>
              <a:t> </a:t>
            </a:r>
            <a:r>
              <a:rPr lang="en-US" sz="2400" dirty="0" err="1" smtClean="0"/>
              <a:t>overige</a:t>
            </a:r>
            <a:r>
              <a:rPr lang="en-US" sz="2400" dirty="0" smtClean="0"/>
              <a:t> R-scripts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400" dirty="0" err="1"/>
              <a:t>Overige</a:t>
            </a:r>
            <a:r>
              <a:rPr lang="en-US" sz="3400" dirty="0"/>
              <a:t> </a:t>
            </a:r>
            <a:r>
              <a:rPr lang="en-US" sz="3400" dirty="0" smtClean="0"/>
              <a:t>R-scripts</a:t>
            </a:r>
            <a:endParaRPr lang="en-US" sz="3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</a:t>
            </a:r>
            <a:r>
              <a:rPr lang="en-US" sz="2400" dirty="0" err="1" smtClean="0"/>
              <a:t>evat</a:t>
            </a:r>
            <a:r>
              <a:rPr lang="en-US" sz="2400" dirty="0" smtClean="0"/>
              <a:t> de </a:t>
            </a:r>
            <a:r>
              <a:rPr lang="en-US" sz="2400" dirty="0" err="1" smtClean="0"/>
              <a:t>functionaliteit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Shiny</a:t>
            </a:r>
            <a:r>
              <a:rPr lang="nl-NL" dirty="0"/>
              <a:t>:</a:t>
            </a:r>
            <a:r>
              <a:rPr lang="en-US" dirty="0"/>
              <a:t> </a:t>
            </a:r>
            <a:r>
              <a:rPr lang="en-US" dirty="0" smtClean="0"/>
              <a:t>R-package </a:t>
            </a:r>
            <a:r>
              <a:rPr lang="en-US" dirty="0"/>
              <a:t>om </a:t>
            </a:r>
            <a:r>
              <a:rPr lang="en-US" dirty="0" err="1"/>
              <a:t>interactieve</a:t>
            </a:r>
            <a:r>
              <a:rPr lang="en-US" dirty="0"/>
              <a:t> web </a:t>
            </a:r>
            <a:r>
              <a:rPr lang="en-US" dirty="0" err="1"/>
              <a:t>applicaties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bouwen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183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17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ui.R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server.R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algemeen.R</a:t>
            </a: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Voorbeeld</a:t>
            </a:r>
            <a:r>
              <a:rPr lang="en-US" dirty="0" smtClean="0"/>
              <a:t>: knop </a:t>
            </a:r>
            <a:r>
              <a:rPr lang="en-US" dirty="0" err="1" smtClean="0"/>
              <a:t>Opslaan</a:t>
            </a:r>
            <a:endParaRPr lang="nl-NL" dirty="0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2427735"/>
            <a:ext cx="4402485" cy="1245986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3" y="1059582"/>
            <a:ext cx="4402485" cy="1117659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3" y="3921795"/>
            <a:ext cx="4402485" cy="93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5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18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rgbClr val="0066FF"/>
                </a:solidFill>
              </a:rPr>
              <a:t>titlePanel</a:t>
            </a:r>
            <a:endParaRPr lang="en-US" dirty="0" smtClean="0">
              <a:solidFill>
                <a:srgbClr val="0066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sidebarLayout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rgbClr val="00B050"/>
                </a:solidFill>
              </a:rPr>
              <a:t>sidebarPanel</a:t>
            </a:r>
            <a:endParaRPr lang="en-US" sz="2400" dirty="0" smtClean="0">
              <a:solidFill>
                <a:srgbClr val="00B05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rgbClr val="FF0000"/>
                </a:solidFill>
              </a:rPr>
              <a:t>mainPanel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src</a:t>
            </a:r>
            <a:r>
              <a:rPr lang="en-US" dirty="0" smtClean="0">
                <a:solidFill>
                  <a:schemeClr val="tx1"/>
                </a:solidFill>
              </a:rPr>
              <a:t>\www\cbs.css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theme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ui.R</a:t>
            </a:r>
            <a:r>
              <a:rPr lang="en-US" dirty="0" smtClean="0"/>
              <a:t>: panels </a:t>
            </a:r>
            <a:r>
              <a:rPr lang="en-US" dirty="0" err="1" smtClean="0"/>
              <a:t>en</a:t>
            </a:r>
            <a:r>
              <a:rPr lang="en-US" dirty="0" smtClean="0"/>
              <a:t> theme</a:t>
            </a:r>
            <a:endParaRPr lang="nl-NL" dirty="0"/>
          </a:p>
        </p:txBody>
      </p:sp>
      <p:grpSp>
        <p:nvGrpSpPr>
          <p:cNvPr id="13" name="Groep 12"/>
          <p:cNvGrpSpPr/>
          <p:nvPr/>
        </p:nvGrpSpPr>
        <p:grpSpPr>
          <a:xfrm>
            <a:off x="3635895" y="987574"/>
            <a:ext cx="4959463" cy="2520280"/>
            <a:chOff x="2897807" y="987574"/>
            <a:chExt cx="5697552" cy="2994670"/>
          </a:xfrm>
        </p:grpSpPr>
        <p:pic>
          <p:nvPicPr>
            <p:cNvPr id="9" name="Afbeelding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7807" y="987574"/>
              <a:ext cx="5697552" cy="2994670"/>
            </a:xfrm>
            <a:prstGeom prst="rect">
              <a:avLst/>
            </a:prstGeom>
          </p:spPr>
        </p:pic>
        <p:sp>
          <p:nvSpPr>
            <p:cNvPr id="10" name="Rechthoek 9"/>
            <p:cNvSpPr/>
            <p:nvPr/>
          </p:nvSpPr>
          <p:spPr>
            <a:xfrm>
              <a:off x="2996332" y="1275606"/>
              <a:ext cx="2943820" cy="266429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Rechthoek 10"/>
            <p:cNvSpPr/>
            <p:nvPr/>
          </p:nvSpPr>
          <p:spPr>
            <a:xfrm>
              <a:off x="6007968" y="1275606"/>
              <a:ext cx="2574691" cy="26642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pic>
        <p:nvPicPr>
          <p:cNvPr id="12" name="Afbeelding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5" y="3867894"/>
            <a:ext cx="22002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8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Standaard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hoogste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niveau</a:t>
            </a:r>
            <a:r>
              <a:rPr lang="en-US" sz="2400" dirty="0" smtClean="0">
                <a:solidFill>
                  <a:schemeClr val="tx1"/>
                </a:solidFill>
              </a:rPr>
              <a:t> in </a:t>
            </a:r>
            <a:r>
              <a:rPr lang="en-US" sz="2400" dirty="0" err="1" smtClean="0">
                <a:solidFill>
                  <a:schemeClr val="tx1"/>
                </a:solidFill>
              </a:rPr>
              <a:t>ui.R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Hierin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plaats</a:t>
            </a:r>
            <a:r>
              <a:rPr lang="en-US" dirty="0" smtClean="0">
                <a:solidFill>
                  <a:schemeClr val="tx1"/>
                </a:solidFill>
              </a:rPr>
              <a:t> je de </a:t>
            </a:r>
            <a:r>
              <a:rPr lang="en-US" dirty="0" err="1" smtClean="0">
                <a:solidFill>
                  <a:schemeClr val="tx1"/>
                </a:solidFill>
              </a:rPr>
              <a:t>onderdelen</a:t>
            </a:r>
            <a:r>
              <a:rPr lang="en-US" dirty="0" smtClean="0">
                <a:solidFill>
                  <a:schemeClr val="tx1"/>
                </a:solidFill>
              </a:rPr>
              <a:t> van de </a:t>
            </a:r>
            <a:r>
              <a:rPr lang="en-US" dirty="0" err="1" smtClean="0">
                <a:solidFill>
                  <a:schemeClr val="tx1"/>
                </a:solidFill>
              </a:rPr>
              <a:t>ui</a:t>
            </a:r>
            <a:endParaRPr lang="en-US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Maakt</a:t>
            </a:r>
            <a:r>
              <a:rPr lang="en-US" sz="2400" dirty="0" smtClean="0">
                <a:solidFill>
                  <a:schemeClr val="tx1"/>
                </a:solidFill>
              </a:rPr>
              <a:t> de </a:t>
            </a:r>
            <a:r>
              <a:rPr lang="en-US" sz="2400" dirty="0" err="1" smtClean="0">
                <a:solidFill>
                  <a:schemeClr val="tx1"/>
                </a:solidFill>
              </a:rPr>
              <a:t>pagina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schaalbaar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Bestaat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uit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rijen</a:t>
            </a:r>
            <a:r>
              <a:rPr lang="en-US" dirty="0" smtClean="0">
                <a:solidFill>
                  <a:schemeClr val="tx1"/>
                </a:solidFill>
              </a:rPr>
              <a:t>, die </a:t>
            </a:r>
            <a:r>
              <a:rPr lang="en-US" dirty="0" err="1" smtClean="0">
                <a:solidFill>
                  <a:schemeClr val="tx1"/>
                </a:solidFill>
              </a:rPr>
              <a:t>weer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uit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kolommen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bestaan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19</a:t>
            </a:fld>
            <a:endParaRPr lang="nl-NL" sz="1200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808312"/>
            <a:ext cx="7023962" cy="1995686"/>
          </a:xfrm>
          <a:prstGeom prst="rect">
            <a:avLst/>
          </a:prstGeom>
        </p:spPr>
      </p:pic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ui.R</a:t>
            </a:r>
            <a:r>
              <a:rPr lang="en-US" dirty="0" smtClean="0"/>
              <a:t>: </a:t>
            </a:r>
            <a:r>
              <a:rPr lang="en-US" dirty="0" err="1" smtClean="0"/>
              <a:t>fluidPage</a:t>
            </a:r>
            <a:r>
              <a:rPr lang="en-US" dirty="0" smtClean="0"/>
              <a:t>()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5343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Een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schaalbare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rij</a:t>
            </a:r>
            <a:r>
              <a:rPr lang="en-US" sz="2400" dirty="0" smtClean="0">
                <a:solidFill>
                  <a:schemeClr val="tx1"/>
                </a:solidFill>
              </a:rPr>
              <a:t> in de </a:t>
            </a:r>
            <a:r>
              <a:rPr lang="en-US" sz="2400" dirty="0" err="1" smtClean="0">
                <a:solidFill>
                  <a:schemeClr val="tx1"/>
                </a:solidFill>
              </a:rPr>
              <a:t>ui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Bestaat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zelf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weer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uit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kolommen</a:t>
            </a:r>
            <a:r>
              <a:rPr lang="en-US" dirty="0" smtClean="0">
                <a:solidFill>
                  <a:schemeClr val="tx1"/>
                </a:solidFill>
              </a:rPr>
              <a:t> (</a:t>
            </a:r>
            <a:r>
              <a:rPr lang="en-US" dirty="0" err="1" smtClean="0">
                <a:solidFill>
                  <a:schemeClr val="tx1"/>
                </a:solidFill>
              </a:rPr>
              <a:t>standaardbreedte</a:t>
            </a:r>
            <a:r>
              <a:rPr lang="en-US" dirty="0" smtClean="0">
                <a:solidFill>
                  <a:schemeClr val="tx1"/>
                </a:solidFill>
              </a:rPr>
              <a:t> 12)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20</a:t>
            </a:fld>
            <a:endParaRPr lang="nl-NL" sz="1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369571"/>
            <a:ext cx="5819775" cy="1190625"/>
          </a:xfrm>
          <a:prstGeom prst="rect">
            <a:avLst/>
          </a:prstGeom>
        </p:spPr>
      </p:pic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u</a:t>
            </a:r>
            <a:r>
              <a:rPr lang="en-US" dirty="0" err="1" smtClean="0"/>
              <a:t>i.R</a:t>
            </a:r>
            <a:r>
              <a:rPr lang="en-US" dirty="0" smtClean="0"/>
              <a:t>: </a:t>
            </a:r>
            <a:r>
              <a:rPr lang="en-US" dirty="0" err="1" smtClean="0"/>
              <a:t>fluidRow</a:t>
            </a:r>
            <a:r>
              <a:rPr lang="en-US" dirty="0" smtClean="0"/>
              <a:t>()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939902"/>
            <a:ext cx="5819775" cy="36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95486"/>
            <a:ext cx="3895328" cy="4600342"/>
          </a:xfrm>
          <a:prstGeom prst="rect">
            <a:avLst/>
          </a:prstGeom>
        </p:spPr>
      </p:pic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observeEvent</a:t>
            </a:r>
            <a:r>
              <a:rPr lang="en-US" sz="2400" dirty="0" smtClean="0">
                <a:solidFill>
                  <a:schemeClr val="tx1"/>
                </a:solidFill>
              </a:rPr>
              <a:t>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</a:t>
            </a:r>
            <a:r>
              <a:rPr lang="en-US" sz="2000" dirty="0" smtClean="0"/>
              <a:t>ink </a:t>
            </a:r>
            <a:r>
              <a:rPr lang="en-US" sz="2000" dirty="0"/>
              <a:t>met </a:t>
            </a:r>
            <a:r>
              <a:rPr lang="en-US" sz="2000" dirty="0" err="1"/>
              <a:t>ui.R</a:t>
            </a:r>
            <a:r>
              <a:rPr lang="en-US" sz="2000" dirty="0"/>
              <a:t> via </a:t>
            </a:r>
            <a:br>
              <a:rPr lang="en-US" sz="2000" dirty="0"/>
            </a:br>
            <a:r>
              <a:rPr lang="en-US" sz="2000" dirty="0" err="1"/>
              <a:t>input$btn_ana_maken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renderText</a:t>
            </a:r>
            <a:r>
              <a:rPr lang="en-US" dirty="0" smtClean="0">
                <a:solidFill>
                  <a:schemeClr val="tx1"/>
                </a:solidFill>
              </a:rPr>
              <a:t>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gebeurt</a:t>
            </a:r>
            <a:r>
              <a:rPr lang="en-US" sz="2000" dirty="0" smtClean="0"/>
              <a:t> pas op het </a:t>
            </a:r>
            <a:r>
              <a:rPr lang="en-US" sz="2000" dirty="0" err="1" smtClean="0"/>
              <a:t>eind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withProgress</a:t>
            </a:r>
            <a:r>
              <a:rPr lang="en-US" sz="2400" dirty="0" smtClean="0">
                <a:solidFill>
                  <a:schemeClr val="tx1"/>
                </a:solidFill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App$verwerkingsmap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 err="1" smtClean="0"/>
              <a:t>zie</a:t>
            </a:r>
            <a:r>
              <a:rPr lang="en-US" sz="2100" dirty="0" smtClean="0"/>
              <a:t> </a:t>
            </a:r>
            <a:r>
              <a:rPr lang="en-US" sz="2100" dirty="0"/>
              <a:t>app.ini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21</a:t>
            </a:fld>
            <a:endParaRPr lang="nl-NL" sz="12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server.R</a:t>
            </a:r>
            <a:r>
              <a:rPr lang="en-US" dirty="0" smtClean="0"/>
              <a:t>: </a:t>
            </a:r>
            <a:r>
              <a:rPr lang="en-US" dirty="0" err="1" smtClean="0"/>
              <a:t>voorbeeld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750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22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Kiezen</a:t>
            </a:r>
            <a:r>
              <a:rPr lang="en-US" dirty="0" smtClean="0"/>
              <a:t> </a:t>
            </a:r>
            <a:r>
              <a:rPr lang="en-US" dirty="0" err="1" smtClean="0"/>
              <a:t>jaarmaandmap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Bij</a:t>
            </a:r>
            <a:r>
              <a:rPr lang="en-US" sz="2000" dirty="0" smtClean="0"/>
              <a:t> </a:t>
            </a:r>
            <a:r>
              <a:rPr lang="en-US" sz="2000" dirty="0" err="1" smtClean="0"/>
              <a:t>opstarten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Toont</a:t>
            </a:r>
            <a:r>
              <a:rPr lang="en-US" sz="2000" dirty="0" smtClean="0"/>
              <a:t> </a:t>
            </a:r>
            <a:r>
              <a:rPr lang="en-US" sz="2000" dirty="0" err="1" smtClean="0"/>
              <a:t>verwerkingsmaand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Selecteert</a:t>
            </a:r>
            <a:r>
              <a:rPr lang="en-US" sz="2000" dirty="0" smtClean="0"/>
              <a:t> </a:t>
            </a:r>
            <a:r>
              <a:rPr lang="en-US" sz="2000" dirty="0" err="1" smtClean="0"/>
              <a:t>bronbestanden</a:t>
            </a:r>
            <a:endParaRPr lang="nl-NL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Klikken</a:t>
            </a:r>
            <a:r>
              <a:rPr lang="en-US" dirty="0" smtClean="0"/>
              <a:t> op knop </a:t>
            </a:r>
            <a:r>
              <a:rPr lang="en-US" dirty="0" err="1" smtClean="0"/>
              <a:t>bladeren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 smtClean="0"/>
              <a:t>Komt</a:t>
            </a:r>
            <a:r>
              <a:rPr lang="en-US" sz="2200" dirty="0" smtClean="0"/>
              <a:t> </a:t>
            </a:r>
            <a:r>
              <a:rPr lang="en-US" sz="2200" dirty="0" err="1" smtClean="0"/>
              <a:t>niet</a:t>
            </a:r>
            <a:r>
              <a:rPr lang="en-US" sz="2200" dirty="0" smtClean="0"/>
              <a:t> op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 smtClean="0"/>
              <a:t>Soms</a:t>
            </a:r>
            <a:r>
              <a:rPr lang="en-US" sz="2200" dirty="0" smtClean="0"/>
              <a:t> </a:t>
            </a:r>
            <a:r>
              <a:rPr lang="en-US" sz="2200" dirty="0" err="1" smtClean="0"/>
              <a:t>ander</a:t>
            </a:r>
            <a:r>
              <a:rPr lang="en-US" sz="2200" dirty="0" smtClean="0"/>
              <a:t> </a:t>
            </a:r>
            <a:r>
              <a:rPr lang="en-US" sz="2200" dirty="0" err="1" smtClean="0"/>
              <a:t>uiterlijk</a:t>
            </a:r>
            <a:endParaRPr lang="en-US" sz="2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Plaatje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 smtClean="0"/>
              <a:t>Bij</a:t>
            </a:r>
            <a:r>
              <a:rPr lang="en-US" sz="2200" dirty="0" smtClean="0"/>
              <a:t> </a:t>
            </a:r>
            <a:r>
              <a:rPr lang="en-US" sz="2200" dirty="0" err="1" smtClean="0"/>
              <a:t>opstarten</a:t>
            </a:r>
            <a:endParaRPr lang="en-US" sz="22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 smtClean="0"/>
              <a:t>Plaatjes</a:t>
            </a:r>
            <a:r>
              <a:rPr lang="en-US" sz="2200" dirty="0" smtClean="0"/>
              <a:t> in map </a:t>
            </a:r>
            <a:r>
              <a:rPr lang="en-US" sz="2200" dirty="0" err="1" smtClean="0"/>
              <a:t>src</a:t>
            </a:r>
            <a:r>
              <a:rPr lang="en-US" sz="2200" dirty="0" smtClean="0"/>
              <a:t>/www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 smtClean="0"/>
              <a:t>verversen</a:t>
            </a:r>
            <a:endParaRPr lang="nl-NL" sz="22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Gui-functionaliteit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88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23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>
                <a:hlinkClick r:id="rId2"/>
              </a:rPr>
              <a:t>http://shiny.rstudio.com</a:t>
            </a:r>
            <a:r>
              <a:rPr lang="nl-NL" dirty="0" smtClean="0">
                <a:hlinkClick r:id="rId2"/>
              </a:rPr>
              <a:t>/</a:t>
            </a:r>
            <a:endParaRPr lang="nl-NL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Meer </a:t>
            </a:r>
            <a:r>
              <a:rPr lang="en-US" dirty="0" err="1" smtClean="0"/>
              <a:t>informatie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650861"/>
            <a:ext cx="5010025" cy="297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5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24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Vragen</a:t>
            </a:r>
            <a:r>
              <a:rPr lang="en-US" dirty="0" smtClean="0"/>
              <a:t>?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37" y="1504950"/>
            <a:ext cx="22955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8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 smtClean="0"/>
              <a:t>Nicolette de Bruijn en Kenneth Chin-A-Fat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 smtClean="0"/>
              <a:t>Woensdag 27 juni 2018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Statistiek Slachtingen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smtClean="0"/>
              <a:t>Controle- en correctiebestanden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2931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26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c</a:t>
            </a:r>
            <a:r>
              <a:rPr lang="nl-NL" dirty="0" err="1" smtClean="0"/>
              <a:t>tcr</a:t>
            </a:r>
            <a:r>
              <a:rPr lang="nl-NL" dirty="0" smtClean="0"/>
              <a:t>-bestanden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78469"/>
            <a:ext cx="6048672" cy="3711242"/>
          </a:xfrm>
          <a:prstGeom prst="rect">
            <a:avLst/>
          </a:prstGeom>
        </p:spPr>
      </p:pic>
      <p:sp>
        <p:nvSpPr>
          <p:cNvPr id="7" name="Ovaal 6"/>
          <p:cNvSpPr/>
          <p:nvPr/>
        </p:nvSpPr>
        <p:spPr>
          <a:xfrm>
            <a:off x="2195736" y="1275606"/>
            <a:ext cx="1296144" cy="32403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429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27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Indeling</a:t>
            </a:r>
            <a:r>
              <a:rPr lang="en-US" dirty="0" smtClean="0"/>
              <a:t> </a:t>
            </a:r>
            <a:r>
              <a:rPr lang="en-US" dirty="0" err="1" smtClean="0"/>
              <a:t>ctcr-bestanden</a:t>
            </a:r>
            <a:endParaRPr lang="nl-NL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80" y="1681783"/>
            <a:ext cx="7435912" cy="1771547"/>
          </a:xfrm>
          <a:prstGeom prst="rect">
            <a:avLst/>
          </a:prstGeom>
        </p:spPr>
      </p:pic>
      <p:sp>
        <p:nvSpPr>
          <p:cNvPr id="10" name="Linkeraccolade 9"/>
          <p:cNvSpPr/>
          <p:nvPr/>
        </p:nvSpPr>
        <p:spPr>
          <a:xfrm rot="5400000">
            <a:off x="4355419" y="1033466"/>
            <a:ext cx="235799" cy="10081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Linkeraccolade 10"/>
          <p:cNvSpPr/>
          <p:nvPr/>
        </p:nvSpPr>
        <p:spPr>
          <a:xfrm rot="5400000">
            <a:off x="7154400" y="781438"/>
            <a:ext cx="235799" cy="15121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/>
        </p:nvSpPr>
        <p:spPr>
          <a:xfrm>
            <a:off x="3131840" y="987574"/>
            <a:ext cx="2853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 smtClean="0"/>
              <a:t>Gave data </a:t>
            </a:r>
            <a:r>
              <a:rPr lang="en-US" sz="1200" dirty="0" err="1" smtClean="0"/>
              <a:t>uit</a:t>
            </a:r>
            <a:r>
              <a:rPr lang="en-US" sz="1200" dirty="0" smtClean="0"/>
              <a:t> database</a:t>
            </a:r>
          </a:p>
          <a:p>
            <a:pPr marL="285750" indent="-285750">
              <a:buFontTx/>
              <a:buChar char="-"/>
            </a:pPr>
            <a:r>
              <a:rPr lang="en-US" sz="1200" dirty="0" err="1" smtClean="0"/>
              <a:t>Bijschattingen</a:t>
            </a:r>
            <a:r>
              <a:rPr lang="en-US" sz="1200" dirty="0" smtClean="0"/>
              <a:t> </a:t>
            </a:r>
            <a:r>
              <a:rPr lang="en-US" sz="1200" dirty="0" err="1" smtClean="0"/>
              <a:t>gekleurd</a:t>
            </a:r>
            <a:r>
              <a:rPr lang="en-US" sz="1200" dirty="0" smtClean="0"/>
              <a:t> </a:t>
            </a:r>
            <a:r>
              <a:rPr lang="en-US" sz="1200" dirty="0" err="1" smtClean="0"/>
              <a:t>bij</a:t>
            </a:r>
            <a:r>
              <a:rPr lang="en-US" sz="1200" dirty="0" smtClean="0"/>
              <a:t> </a:t>
            </a:r>
            <a:r>
              <a:rPr lang="en-US" sz="1200" dirty="0" err="1" smtClean="0"/>
              <a:t>aanmaken</a:t>
            </a:r>
            <a:endParaRPr lang="nl-NL" sz="1200" dirty="0"/>
          </a:p>
        </p:txBody>
      </p:sp>
      <p:sp>
        <p:nvSpPr>
          <p:cNvPr id="13" name="Tekstvak 12"/>
          <p:cNvSpPr txBox="1"/>
          <p:nvPr/>
        </p:nvSpPr>
        <p:spPr>
          <a:xfrm>
            <a:off x="6108836" y="1157431"/>
            <a:ext cx="2326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Indicatoren</a:t>
            </a:r>
            <a:r>
              <a:rPr lang="en-US" sz="1200" dirty="0" smtClean="0"/>
              <a:t> </a:t>
            </a:r>
            <a:r>
              <a:rPr lang="en-US" sz="1200" dirty="0" err="1" smtClean="0"/>
              <a:t>afgeleid</a:t>
            </a:r>
            <a:r>
              <a:rPr lang="en-US" sz="1200" dirty="0" smtClean="0"/>
              <a:t> </a:t>
            </a:r>
            <a:r>
              <a:rPr lang="en-US" sz="1200" dirty="0" err="1" smtClean="0"/>
              <a:t>bij</a:t>
            </a:r>
            <a:r>
              <a:rPr lang="en-US" sz="1200" dirty="0" smtClean="0"/>
              <a:t> </a:t>
            </a:r>
            <a:r>
              <a:rPr lang="en-US" sz="1200" dirty="0" err="1" smtClean="0"/>
              <a:t>aanmaken</a:t>
            </a:r>
            <a:endParaRPr lang="nl-NL" sz="1200" dirty="0"/>
          </a:p>
        </p:txBody>
      </p:sp>
      <p:sp>
        <p:nvSpPr>
          <p:cNvPr id="14" name="Linkeraccolade 13"/>
          <p:cNvSpPr/>
          <p:nvPr/>
        </p:nvSpPr>
        <p:spPr>
          <a:xfrm rot="16200000">
            <a:off x="5642232" y="2898706"/>
            <a:ext cx="235799" cy="15121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kstvak 14"/>
          <p:cNvSpPr txBox="1"/>
          <p:nvPr/>
        </p:nvSpPr>
        <p:spPr>
          <a:xfrm>
            <a:off x="4353903" y="3769288"/>
            <a:ext cx="3746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 smtClean="0"/>
              <a:t>Data </a:t>
            </a:r>
            <a:r>
              <a:rPr lang="en-US" sz="1200" dirty="0" err="1" smtClean="0"/>
              <a:t>uit</a:t>
            </a:r>
            <a:r>
              <a:rPr lang="en-US" sz="1200" dirty="0" smtClean="0"/>
              <a:t> levering</a:t>
            </a:r>
          </a:p>
          <a:p>
            <a:pPr marL="285750" indent="-285750">
              <a:buFontTx/>
              <a:buChar char="-"/>
            </a:pPr>
            <a:r>
              <a:rPr lang="en-US" sz="1200" dirty="0" err="1" smtClean="0"/>
              <a:t>Bijschattingen</a:t>
            </a:r>
            <a:r>
              <a:rPr lang="en-US" sz="1200" dirty="0" smtClean="0"/>
              <a:t> </a:t>
            </a:r>
            <a:r>
              <a:rPr lang="en-US" sz="1200" dirty="0" err="1" smtClean="0"/>
              <a:t>toegevoegd</a:t>
            </a:r>
            <a:r>
              <a:rPr lang="en-US" sz="1200" dirty="0" smtClean="0"/>
              <a:t> </a:t>
            </a:r>
            <a:r>
              <a:rPr lang="en-US" sz="1200" dirty="0" err="1" smtClean="0"/>
              <a:t>en</a:t>
            </a:r>
            <a:r>
              <a:rPr lang="en-US" sz="1200" dirty="0" smtClean="0"/>
              <a:t> </a:t>
            </a:r>
            <a:r>
              <a:rPr lang="en-US" sz="1200" dirty="0" err="1" smtClean="0"/>
              <a:t>gekleurd</a:t>
            </a:r>
            <a:r>
              <a:rPr lang="en-US" sz="1200" dirty="0" smtClean="0"/>
              <a:t> </a:t>
            </a:r>
            <a:r>
              <a:rPr lang="en-US" sz="1200" dirty="0" err="1" smtClean="0"/>
              <a:t>bij</a:t>
            </a:r>
            <a:r>
              <a:rPr lang="en-US" sz="1200" dirty="0" smtClean="0"/>
              <a:t> </a:t>
            </a:r>
            <a:r>
              <a:rPr lang="en-US" sz="1200" dirty="0" err="1" smtClean="0"/>
              <a:t>aanmaken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310852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28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gui</a:t>
            </a:r>
            <a:endParaRPr lang="en-US" dirty="0" smtClean="0"/>
          </a:p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ui.R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server.R</a:t>
            </a:r>
            <a:endParaRPr lang="en-US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Aanroep</a:t>
            </a:r>
            <a:r>
              <a:rPr lang="en-US" dirty="0" smtClean="0"/>
              <a:t> </a:t>
            </a:r>
            <a:r>
              <a:rPr lang="en-US" dirty="0" err="1" smtClean="0"/>
              <a:t>maken</a:t>
            </a:r>
            <a:r>
              <a:rPr lang="en-US" dirty="0" smtClean="0"/>
              <a:t> </a:t>
            </a:r>
            <a:r>
              <a:rPr lang="en-US" dirty="0" err="1" smtClean="0"/>
              <a:t>ctcr-bestanden</a:t>
            </a:r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921743"/>
            <a:ext cx="3635657" cy="1229866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3361879"/>
            <a:ext cx="4411657" cy="1508373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1059582"/>
            <a:ext cx="1560399" cy="66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0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29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server.R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Voorbereiding</a:t>
            </a: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Controle</a:t>
            </a:r>
            <a:r>
              <a:rPr lang="en-US" dirty="0" smtClean="0"/>
              <a:t> of </a:t>
            </a:r>
            <a:r>
              <a:rPr lang="en-US" dirty="0" err="1" smtClean="0"/>
              <a:t>kan</a:t>
            </a:r>
            <a:r>
              <a:rPr lang="en-US" dirty="0" smtClean="0"/>
              <a:t> </a:t>
            </a:r>
            <a:r>
              <a:rPr lang="en-US" dirty="0" err="1" smtClean="0"/>
              <a:t>aanmaken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roep</a:t>
            </a:r>
            <a:r>
              <a:rPr lang="en-US" dirty="0"/>
              <a:t> </a:t>
            </a:r>
            <a:r>
              <a:rPr lang="en-US" dirty="0" err="1" smtClean="0"/>
              <a:t>ctcrbestand_aantallen_roodvlees.R</a:t>
            </a:r>
            <a:r>
              <a:rPr lang="en-US" dirty="0" smtClean="0"/>
              <a:t> </a:t>
            </a:r>
            <a:r>
              <a:rPr lang="en-US" dirty="0" err="1" smtClean="0"/>
              <a:t>aan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Geef</a:t>
            </a:r>
            <a:r>
              <a:rPr lang="en-US" dirty="0" smtClean="0"/>
              <a:t> </a:t>
            </a:r>
            <a:r>
              <a:rPr lang="en-US" dirty="0" err="1" smtClean="0"/>
              <a:t>tekst</a:t>
            </a:r>
            <a:r>
              <a:rPr lang="en-US" dirty="0" smtClean="0"/>
              <a:t> </a:t>
            </a:r>
            <a:r>
              <a:rPr lang="en-US" dirty="0" err="1" smtClean="0"/>
              <a:t>terug</a:t>
            </a:r>
            <a:r>
              <a:rPr lang="en-US" dirty="0" smtClean="0"/>
              <a:t> </a:t>
            </a:r>
            <a:r>
              <a:rPr lang="en-US" dirty="0" err="1" smtClean="0"/>
              <a:t>aan</a:t>
            </a:r>
            <a:r>
              <a:rPr lang="en-US" dirty="0" smtClean="0"/>
              <a:t> </a:t>
            </a:r>
            <a:r>
              <a:rPr lang="en-US" dirty="0" err="1" smtClean="0"/>
              <a:t>ui.R</a:t>
            </a:r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ctcr-bestand</a:t>
            </a:r>
            <a:r>
              <a:rPr lang="en-US" dirty="0"/>
              <a:t> </a:t>
            </a:r>
            <a:r>
              <a:rPr lang="en-US" dirty="0" err="1"/>
              <a:t>roodvlees</a:t>
            </a:r>
            <a:r>
              <a:rPr lang="en-US" dirty="0"/>
              <a:t> op </a:t>
            </a:r>
            <a:r>
              <a:rPr lang="en-US" dirty="0" err="1"/>
              <a:t>hoofdlijnen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03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30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ctcr-bestand_aantallen_roodvlees.R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Verzamelen</a:t>
            </a:r>
            <a:r>
              <a:rPr lang="en-US" dirty="0" smtClean="0"/>
              <a:t> data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Toevoegen</a:t>
            </a:r>
            <a:r>
              <a:rPr lang="en-US" dirty="0" smtClean="0"/>
              <a:t> </a:t>
            </a:r>
            <a:r>
              <a:rPr lang="en-US" dirty="0" err="1" smtClean="0"/>
              <a:t>bijschattingen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Afleiden</a:t>
            </a:r>
            <a:r>
              <a:rPr lang="en-US" dirty="0" smtClean="0"/>
              <a:t> </a:t>
            </a:r>
            <a:r>
              <a:rPr lang="en-US" dirty="0" err="1" smtClean="0"/>
              <a:t>indicatoren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Wegschrijven</a:t>
            </a:r>
            <a:r>
              <a:rPr lang="en-US" dirty="0" smtClean="0"/>
              <a:t> </a:t>
            </a:r>
            <a:r>
              <a:rPr lang="en-US" dirty="0" err="1" smtClean="0"/>
              <a:t>naar</a:t>
            </a:r>
            <a:r>
              <a:rPr lang="en-US" dirty="0" smtClean="0"/>
              <a:t> Excel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Geef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 </a:t>
            </a:r>
            <a:r>
              <a:rPr lang="en-US" dirty="0" err="1"/>
              <a:t>terug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 smtClean="0"/>
              <a:t>server.R</a:t>
            </a:r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ctcr-bestand</a:t>
            </a:r>
            <a:r>
              <a:rPr lang="en-US" dirty="0"/>
              <a:t> </a:t>
            </a:r>
            <a:r>
              <a:rPr lang="en-US" dirty="0" err="1"/>
              <a:t>roodvlees</a:t>
            </a:r>
            <a:r>
              <a:rPr lang="en-US" dirty="0"/>
              <a:t> op </a:t>
            </a:r>
            <a:r>
              <a:rPr lang="en-US" dirty="0" err="1"/>
              <a:t>hoofdlijnen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939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31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Analyse-bestanden gaan analoog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78469"/>
            <a:ext cx="6048672" cy="3711242"/>
          </a:xfrm>
          <a:prstGeom prst="rect">
            <a:avLst/>
          </a:prstGeom>
        </p:spPr>
      </p:pic>
      <p:sp>
        <p:nvSpPr>
          <p:cNvPr id="7" name="Ovaal 6"/>
          <p:cNvSpPr/>
          <p:nvPr/>
        </p:nvSpPr>
        <p:spPr>
          <a:xfrm>
            <a:off x="4644008" y="3507854"/>
            <a:ext cx="1296144" cy="129614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541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32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Vragen</a:t>
            </a:r>
            <a:r>
              <a:rPr lang="en-US" dirty="0" smtClean="0"/>
              <a:t>?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37" y="1504950"/>
            <a:ext cx="22955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4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 smtClean="0"/>
              <a:t>Nicolette de Bruijn en Kenneth Chin-A-Fat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strike="sngStrike" dirty="0" smtClean="0"/>
              <a:t>Woensdag 18 juli 2018</a:t>
            </a:r>
            <a:r>
              <a:rPr lang="nl-NL" dirty="0" smtClean="0"/>
              <a:t> Woensdag 3 oktober 2018</a:t>
            </a:r>
            <a:endParaRPr lang="nl-NL" strike="sngStrik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Statistiek Slachtingen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smtClean="0"/>
              <a:t>Outputbestanden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265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34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outputbestanden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78469"/>
            <a:ext cx="6048672" cy="3711242"/>
          </a:xfrm>
          <a:prstGeom prst="rect">
            <a:avLst/>
          </a:prstGeom>
        </p:spPr>
      </p:pic>
      <p:sp>
        <p:nvSpPr>
          <p:cNvPr id="7" name="Ovaal 6"/>
          <p:cNvSpPr/>
          <p:nvPr/>
        </p:nvSpPr>
        <p:spPr>
          <a:xfrm>
            <a:off x="5945120" y="885421"/>
            <a:ext cx="1296144" cy="32403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521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35</a:t>
            </a:fld>
            <a:endParaRPr lang="nl-NL" sz="12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Indeling</a:t>
            </a:r>
            <a:r>
              <a:rPr lang="en-US" dirty="0" smtClean="0"/>
              <a:t> </a:t>
            </a:r>
            <a:r>
              <a:rPr lang="en-US" dirty="0" err="1" smtClean="0"/>
              <a:t>outputbestanden</a:t>
            </a:r>
            <a:r>
              <a:rPr lang="en-US" dirty="0" smtClean="0"/>
              <a:t> - Eurostat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467544" y="987574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/>
              <a:t>xlsx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4 </a:t>
            </a:r>
            <a:r>
              <a:rPr lang="en-US" sz="1200" dirty="0" err="1" smtClean="0"/>
              <a:t>maanden</a:t>
            </a:r>
            <a:r>
              <a:rPr lang="en-US" sz="1200" dirty="0" smtClean="0"/>
              <a:t> (m-3 t/m 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a</a:t>
            </a:r>
            <a:r>
              <a:rPr lang="en-US" sz="1200" dirty="0" err="1" smtClean="0"/>
              <a:t>antallen</a:t>
            </a:r>
            <a:r>
              <a:rPr lang="en-US" sz="1200" dirty="0" smtClean="0"/>
              <a:t> </a:t>
            </a:r>
            <a:r>
              <a:rPr lang="en-US" sz="1200" dirty="0" err="1" smtClean="0"/>
              <a:t>en</a:t>
            </a:r>
            <a:r>
              <a:rPr lang="en-US" sz="1200" dirty="0" smtClean="0"/>
              <a:t> </a:t>
            </a:r>
            <a:r>
              <a:rPr lang="en-US" sz="1200" dirty="0" err="1" smtClean="0"/>
              <a:t>gewichten</a:t>
            </a:r>
            <a:endParaRPr lang="en-US" sz="1200" dirty="0" smtClean="0"/>
          </a:p>
          <a:p>
            <a:pPr marL="285750" indent="-285750">
              <a:buFontTx/>
              <a:buChar char="-"/>
            </a:pPr>
            <a:endParaRPr lang="nl-NL" sz="1200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69" y="1923678"/>
            <a:ext cx="7730755" cy="2319751"/>
          </a:xfrm>
          <a:prstGeom prst="rect">
            <a:avLst/>
          </a:prstGeom>
        </p:spPr>
      </p:pic>
      <p:sp>
        <p:nvSpPr>
          <p:cNvPr id="26" name="Linkeraccolade 25"/>
          <p:cNvSpPr/>
          <p:nvPr/>
        </p:nvSpPr>
        <p:spPr>
          <a:xfrm>
            <a:off x="447769" y="2011181"/>
            <a:ext cx="235799" cy="18722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198776" y="2515237"/>
            <a:ext cx="353943" cy="70458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nl-NL" sz="1100" dirty="0" smtClean="0"/>
              <a:t>aantallen</a:t>
            </a:r>
            <a:endParaRPr lang="nl-NL" sz="1100" dirty="0"/>
          </a:p>
        </p:txBody>
      </p:sp>
      <p:sp>
        <p:nvSpPr>
          <p:cNvPr id="27" name="Tekstvak 26"/>
          <p:cNvSpPr txBox="1"/>
          <p:nvPr/>
        </p:nvSpPr>
        <p:spPr>
          <a:xfrm>
            <a:off x="179512" y="3883389"/>
            <a:ext cx="353943" cy="70458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nl-NL" sz="1100" dirty="0" smtClean="0"/>
              <a:t>gewichten</a:t>
            </a:r>
            <a:endParaRPr lang="nl-NL" sz="1100" dirty="0"/>
          </a:p>
        </p:txBody>
      </p:sp>
      <p:sp>
        <p:nvSpPr>
          <p:cNvPr id="28" name="Linkeraccolade 27"/>
          <p:cNvSpPr/>
          <p:nvPr/>
        </p:nvSpPr>
        <p:spPr>
          <a:xfrm>
            <a:off x="449256" y="3904470"/>
            <a:ext cx="235799" cy="6070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0" name="Rechte verbindingslijn met pijl 29"/>
          <p:cNvCxnSpPr/>
          <p:nvPr/>
        </p:nvCxnSpPr>
        <p:spPr>
          <a:xfrm flipV="1">
            <a:off x="2699792" y="429994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met pijl 31"/>
          <p:cNvCxnSpPr/>
          <p:nvPr/>
        </p:nvCxnSpPr>
        <p:spPr>
          <a:xfrm flipV="1">
            <a:off x="4427984" y="429994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/>
          <p:cNvCxnSpPr/>
          <p:nvPr/>
        </p:nvCxnSpPr>
        <p:spPr>
          <a:xfrm flipV="1">
            <a:off x="6156176" y="428775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met pijl 33"/>
          <p:cNvCxnSpPr/>
          <p:nvPr/>
        </p:nvCxnSpPr>
        <p:spPr>
          <a:xfrm flipV="1">
            <a:off x="7956376" y="4281654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kstvak 34"/>
          <p:cNvSpPr txBox="1"/>
          <p:nvPr/>
        </p:nvSpPr>
        <p:spPr>
          <a:xfrm>
            <a:off x="4860032" y="4686404"/>
            <a:ext cx="1800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 smtClean="0"/>
              <a:t>geheimhouding (C) of niet</a:t>
            </a:r>
            <a:endParaRPr lang="nl-NL" sz="1100" dirty="0"/>
          </a:p>
        </p:txBody>
      </p:sp>
      <p:cxnSp>
        <p:nvCxnSpPr>
          <p:cNvPr id="37" name="Rechte verbindingslijn 36"/>
          <p:cNvCxnSpPr/>
          <p:nvPr/>
        </p:nvCxnSpPr>
        <p:spPr>
          <a:xfrm flipV="1">
            <a:off x="2699792" y="4708252"/>
            <a:ext cx="5256584" cy="23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met pijl 37"/>
          <p:cNvCxnSpPr/>
          <p:nvPr/>
        </p:nvCxnSpPr>
        <p:spPr>
          <a:xfrm>
            <a:off x="3275856" y="1365902"/>
            <a:ext cx="0" cy="48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/>
          <p:cNvCxnSpPr/>
          <p:nvPr/>
        </p:nvCxnSpPr>
        <p:spPr>
          <a:xfrm>
            <a:off x="5004048" y="1365902"/>
            <a:ext cx="0" cy="48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echte verbindingslijn met pijl 39"/>
          <p:cNvCxnSpPr/>
          <p:nvPr/>
        </p:nvCxnSpPr>
        <p:spPr>
          <a:xfrm>
            <a:off x="6732240" y="1353710"/>
            <a:ext cx="0" cy="491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met pijl 40"/>
          <p:cNvCxnSpPr/>
          <p:nvPr/>
        </p:nvCxnSpPr>
        <p:spPr>
          <a:xfrm>
            <a:off x="8316416" y="1347614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/>
          <p:cNvCxnSpPr/>
          <p:nvPr/>
        </p:nvCxnSpPr>
        <p:spPr>
          <a:xfrm flipV="1">
            <a:off x="3275856" y="1341518"/>
            <a:ext cx="5040560" cy="24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kstvak 50"/>
          <p:cNvSpPr txBox="1"/>
          <p:nvPr/>
        </p:nvSpPr>
        <p:spPr>
          <a:xfrm>
            <a:off x="5012432" y="1059582"/>
            <a:ext cx="17198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/>
              <a:t>v</a:t>
            </a:r>
            <a:r>
              <a:rPr lang="nl-NL" sz="1100" dirty="0" smtClean="0"/>
              <a:t>oorlopig (P) of definitief</a:t>
            </a:r>
            <a:endParaRPr lang="nl-NL" sz="1100" dirty="0"/>
          </a:p>
        </p:txBody>
      </p:sp>
      <p:sp>
        <p:nvSpPr>
          <p:cNvPr id="9" name="Rechthoek 8"/>
          <p:cNvSpPr/>
          <p:nvPr/>
        </p:nvSpPr>
        <p:spPr>
          <a:xfrm>
            <a:off x="1907704" y="2025581"/>
            <a:ext cx="1728192" cy="2232248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kstvak 21"/>
          <p:cNvSpPr txBox="1"/>
          <p:nvPr/>
        </p:nvSpPr>
        <p:spPr>
          <a:xfrm>
            <a:off x="2411761" y="2902173"/>
            <a:ext cx="86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>
                <a:solidFill>
                  <a:srgbClr val="FF0000"/>
                </a:solidFill>
              </a:rPr>
              <a:t>m</a:t>
            </a:r>
            <a:r>
              <a:rPr lang="nl-NL" sz="2400" b="1" dirty="0" smtClean="0">
                <a:solidFill>
                  <a:srgbClr val="FF0000"/>
                </a:solidFill>
              </a:rPr>
              <a:t>-3</a:t>
            </a:r>
            <a:endParaRPr lang="nl-NL" sz="2400" b="1" dirty="0">
              <a:solidFill>
                <a:srgbClr val="FF0000"/>
              </a:solidFill>
            </a:endParaRPr>
          </a:p>
        </p:txBody>
      </p:sp>
      <p:sp>
        <p:nvSpPr>
          <p:cNvPr id="47" name="Rechthoek 46"/>
          <p:cNvSpPr/>
          <p:nvPr/>
        </p:nvSpPr>
        <p:spPr>
          <a:xfrm>
            <a:off x="3635896" y="2024486"/>
            <a:ext cx="1728192" cy="2232248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Rechthoek 47"/>
          <p:cNvSpPr/>
          <p:nvPr/>
        </p:nvSpPr>
        <p:spPr>
          <a:xfrm>
            <a:off x="5364088" y="2024486"/>
            <a:ext cx="1728192" cy="2232248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9" name="Rechthoek 48"/>
          <p:cNvSpPr/>
          <p:nvPr/>
        </p:nvSpPr>
        <p:spPr>
          <a:xfrm>
            <a:off x="7092280" y="2024486"/>
            <a:ext cx="1728192" cy="2232248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0" name="Tekstvak 49"/>
          <p:cNvSpPr txBox="1"/>
          <p:nvPr/>
        </p:nvSpPr>
        <p:spPr>
          <a:xfrm>
            <a:off x="4211961" y="2888582"/>
            <a:ext cx="86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 smtClean="0">
                <a:solidFill>
                  <a:srgbClr val="FF0000"/>
                </a:solidFill>
              </a:rPr>
              <a:t>m-2</a:t>
            </a:r>
            <a:endParaRPr lang="nl-NL" sz="2400" b="1" dirty="0">
              <a:solidFill>
                <a:srgbClr val="FF0000"/>
              </a:solidFill>
            </a:endParaRPr>
          </a:p>
        </p:txBody>
      </p:sp>
      <p:sp>
        <p:nvSpPr>
          <p:cNvPr id="52" name="Tekstvak 51"/>
          <p:cNvSpPr txBox="1"/>
          <p:nvPr/>
        </p:nvSpPr>
        <p:spPr>
          <a:xfrm>
            <a:off x="5940153" y="2902990"/>
            <a:ext cx="86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 smtClean="0">
                <a:solidFill>
                  <a:srgbClr val="FF0000"/>
                </a:solidFill>
              </a:rPr>
              <a:t>m-1</a:t>
            </a:r>
            <a:endParaRPr lang="nl-NL" sz="2400" b="1" dirty="0">
              <a:solidFill>
                <a:srgbClr val="FF0000"/>
              </a:solidFill>
            </a:endParaRPr>
          </a:p>
        </p:txBody>
      </p:sp>
      <p:sp>
        <p:nvSpPr>
          <p:cNvPr id="53" name="Tekstvak 52"/>
          <p:cNvSpPr txBox="1"/>
          <p:nvPr/>
        </p:nvSpPr>
        <p:spPr>
          <a:xfrm>
            <a:off x="7884369" y="2902173"/>
            <a:ext cx="86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 smtClean="0">
                <a:solidFill>
                  <a:srgbClr val="FF0000"/>
                </a:solidFill>
              </a:rPr>
              <a:t>m</a:t>
            </a:r>
            <a:endParaRPr lang="nl-NL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53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36</a:t>
            </a:fld>
            <a:endParaRPr lang="nl-NL" sz="12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Indeling</a:t>
            </a:r>
            <a:r>
              <a:rPr lang="en-US" dirty="0" smtClean="0"/>
              <a:t> </a:t>
            </a:r>
            <a:r>
              <a:rPr lang="en-US" dirty="0" err="1" smtClean="0"/>
              <a:t>outputbestanden</a:t>
            </a:r>
            <a:r>
              <a:rPr lang="en-US" dirty="0" smtClean="0"/>
              <a:t> - </a:t>
            </a:r>
            <a:r>
              <a:rPr lang="en-US" dirty="0" err="1" smtClean="0"/>
              <a:t>Statline</a:t>
            </a:r>
            <a:r>
              <a:rPr lang="en-US" dirty="0" smtClean="0"/>
              <a:t> </a:t>
            </a:r>
            <a:endParaRPr lang="nl-NL" dirty="0"/>
          </a:p>
        </p:txBody>
      </p:sp>
      <p:sp>
        <p:nvSpPr>
          <p:cNvPr id="19" name="Tekstvak 18"/>
          <p:cNvSpPr txBox="1"/>
          <p:nvPr/>
        </p:nvSpPr>
        <p:spPr>
          <a:xfrm>
            <a:off x="683568" y="1877672"/>
            <a:ext cx="187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/>
              <a:t>ascii</a:t>
            </a:r>
            <a:r>
              <a:rPr lang="en-US" sz="1200" dirty="0"/>
              <a:t>;</a:t>
            </a:r>
            <a:r>
              <a:rPr lang="en-US" sz="1200" dirty="0" smtClean="0"/>
              <a:t> fixed width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4 </a:t>
            </a:r>
            <a:r>
              <a:rPr lang="en-US" sz="1200" dirty="0" err="1" smtClean="0"/>
              <a:t>maanden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/>
              <a:t>aantallen</a:t>
            </a:r>
            <a:r>
              <a:rPr lang="en-US" sz="1200" dirty="0" smtClean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 smtClean="0"/>
              <a:t>gewichten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j</a:t>
            </a:r>
            <a:r>
              <a:rPr lang="en-US" sz="1200" dirty="0" err="1" smtClean="0"/>
              <a:t>aartotalen</a:t>
            </a:r>
            <a:endParaRPr lang="en-US" sz="1200" dirty="0" smtClean="0"/>
          </a:p>
          <a:p>
            <a:endParaRPr lang="nl-NL" sz="1200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348883"/>
            <a:ext cx="4895453" cy="2952220"/>
          </a:xfrm>
          <a:prstGeom prst="rect">
            <a:avLst/>
          </a:prstGeom>
        </p:spPr>
      </p:pic>
      <p:sp>
        <p:nvSpPr>
          <p:cNvPr id="17" name="Linkeraccolade 16"/>
          <p:cNvSpPr/>
          <p:nvPr/>
        </p:nvSpPr>
        <p:spPr>
          <a:xfrm rot="5400000">
            <a:off x="4440763" y="1263989"/>
            <a:ext cx="235799" cy="1173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Linkeraccolade 21"/>
          <p:cNvSpPr/>
          <p:nvPr/>
        </p:nvSpPr>
        <p:spPr>
          <a:xfrm rot="5400000">
            <a:off x="6290304" y="998624"/>
            <a:ext cx="235799" cy="64807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kstvak 8"/>
          <p:cNvSpPr txBox="1"/>
          <p:nvPr/>
        </p:nvSpPr>
        <p:spPr>
          <a:xfrm>
            <a:off x="4211960" y="980215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 smtClean="0"/>
              <a:t>diercode</a:t>
            </a:r>
            <a:endParaRPr lang="nl-NL" sz="1100" dirty="0"/>
          </a:p>
        </p:txBody>
      </p:sp>
      <p:sp>
        <p:nvSpPr>
          <p:cNvPr id="23" name="Linkeraccolade 22"/>
          <p:cNvSpPr/>
          <p:nvPr/>
        </p:nvSpPr>
        <p:spPr>
          <a:xfrm rot="16200000">
            <a:off x="4760422" y="4202978"/>
            <a:ext cx="235799" cy="4320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kstvak 23"/>
          <p:cNvSpPr txBox="1"/>
          <p:nvPr/>
        </p:nvSpPr>
        <p:spPr>
          <a:xfrm>
            <a:off x="4211960" y="4517127"/>
            <a:ext cx="16561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100" dirty="0" smtClean="0"/>
              <a:t>periode: </a:t>
            </a:r>
            <a:r>
              <a:rPr lang="nl-NL" sz="1100" dirty="0" err="1" smtClean="0"/>
              <a:t>jjjjmm</a:t>
            </a:r>
            <a:endParaRPr lang="nl-NL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100" dirty="0"/>
              <a:t>m</a:t>
            </a:r>
            <a:r>
              <a:rPr lang="nl-NL" sz="1100" dirty="0" smtClean="0"/>
              <a:t>m=00 --&gt; jaar</a:t>
            </a:r>
            <a:endParaRPr lang="nl-NL" sz="1100" dirty="0"/>
          </a:p>
        </p:txBody>
      </p:sp>
      <p:sp>
        <p:nvSpPr>
          <p:cNvPr id="25" name="Linkeraccolade 24"/>
          <p:cNvSpPr/>
          <p:nvPr/>
        </p:nvSpPr>
        <p:spPr>
          <a:xfrm rot="16200000">
            <a:off x="7441888" y="4167520"/>
            <a:ext cx="235799" cy="5029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kstvak 25"/>
          <p:cNvSpPr txBox="1"/>
          <p:nvPr/>
        </p:nvSpPr>
        <p:spPr>
          <a:xfrm>
            <a:off x="6012160" y="988735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 smtClean="0"/>
              <a:t>aantallen</a:t>
            </a:r>
            <a:endParaRPr lang="nl-NL" sz="1100" dirty="0"/>
          </a:p>
        </p:txBody>
      </p:sp>
      <p:sp>
        <p:nvSpPr>
          <p:cNvPr id="27" name="Tekstvak 26"/>
          <p:cNvSpPr txBox="1"/>
          <p:nvPr/>
        </p:nvSpPr>
        <p:spPr>
          <a:xfrm>
            <a:off x="7236296" y="4589135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 smtClean="0"/>
              <a:t>gewichten</a:t>
            </a:r>
            <a:endParaRPr lang="nl-NL" sz="1100" dirty="0"/>
          </a:p>
        </p:txBody>
      </p:sp>
    </p:spTree>
    <p:extLst>
      <p:ext uri="{BB962C8B-B14F-4D97-AF65-F5344CB8AC3E}">
        <p14:creationId xmlns:p14="http://schemas.microsoft.com/office/powerpoint/2010/main" val="360998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37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467544" y="987574"/>
            <a:ext cx="4176464" cy="762828"/>
          </a:xfrm>
        </p:spPr>
        <p:txBody>
          <a:bodyPr>
            <a:normAutofit/>
          </a:bodyPr>
          <a:lstStyle/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Indeling</a:t>
            </a:r>
            <a:r>
              <a:rPr lang="en-US" dirty="0" smtClean="0"/>
              <a:t> </a:t>
            </a:r>
            <a:r>
              <a:rPr lang="en-US" dirty="0" err="1" smtClean="0"/>
              <a:t>outputbestanden</a:t>
            </a:r>
            <a:r>
              <a:rPr lang="en-US" dirty="0" smtClean="0"/>
              <a:t> - DSC</a:t>
            </a:r>
            <a:endParaRPr lang="nl-NL" dirty="0"/>
          </a:p>
        </p:txBody>
      </p:sp>
      <p:sp>
        <p:nvSpPr>
          <p:cNvPr id="20" name="Tekstvak 19"/>
          <p:cNvSpPr txBox="1"/>
          <p:nvPr/>
        </p:nvSpPr>
        <p:spPr>
          <a:xfrm>
            <a:off x="611560" y="987574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a</a:t>
            </a:r>
            <a:r>
              <a:rPr lang="en-US" sz="1200" dirty="0" err="1" smtClean="0"/>
              <a:t>scii</a:t>
            </a:r>
            <a:r>
              <a:rPr lang="en-US" sz="1200" dirty="0" smtClean="0"/>
              <a:t>; csv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1 </a:t>
            </a:r>
            <a:r>
              <a:rPr lang="en-US" sz="1200" dirty="0" err="1" smtClean="0"/>
              <a:t>definitieve</a:t>
            </a:r>
            <a:r>
              <a:rPr lang="en-US" sz="1200" dirty="0" smtClean="0"/>
              <a:t> </a:t>
            </a:r>
            <a:r>
              <a:rPr lang="en-US" sz="1200" dirty="0" err="1" smtClean="0"/>
              <a:t>maand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a</a:t>
            </a:r>
            <a:r>
              <a:rPr lang="en-US" sz="1200" dirty="0" err="1" smtClean="0"/>
              <a:t>antallen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</a:t>
            </a:r>
            <a:r>
              <a:rPr lang="en-US" sz="1200" dirty="0" smtClean="0"/>
              <a:t>ood- </a:t>
            </a:r>
            <a:r>
              <a:rPr lang="en-US" sz="1200" dirty="0" err="1" smtClean="0"/>
              <a:t>en</a:t>
            </a:r>
            <a:r>
              <a:rPr lang="en-US" sz="1200" dirty="0" smtClean="0"/>
              <a:t> </a:t>
            </a:r>
            <a:r>
              <a:rPr lang="en-US" sz="1200" dirty="0" err="1" smtClean="0"/>
              <a:t>witvlees</a:t>
            </a:r>
            <a:r>
              <a:rPr lang="en-US" sz="1200" dirty="0" smtClean="0"/>
              <a:t> apart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/>
              <a:t>inclusief</a:t>
            </a:r>
            <a:r>
              <a:rPr lang="en-US" sz="1200" dirty="0" smtClean="0"/>
              <a:t> </a:t>
            </a:r>
            <a:r>
              <a:rPr lang="en-US" sz="1200" dirty="0" err="1" smtClean="0"/>
              <a:t>naam</a:t>
            </a:r>
            <a:r>
              <a:rPr lang="en-US" sz="1200" dirty="0" smtClean="0"/>
              <a:t> </a:t>
            </a:r>
            <a:r>
              <a:rPr lang="en-US" sz="1200" dirty="0" err="1" smtClean="0"/>
              <a:t>slachtbedrijf</a:t>
            </a:r>
            <a:endParaRPr lang="en-US" sz="1200" dirty="0" smtClean="0"/>
          </a:p>
          <a:p>
            <a:endParaRPr lang="nl-NL" sz="1200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355726"/>
            <a:ext cx="7507721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8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192" y="1918726"/>
            <a:ext cx="5518001" cy="2785722"/>
          </a:xfrm>
          <a:prstGeom prst="rect">
            <a:avLst/>
          </a:prstGeom>
        </p:spPr>
      </p:pic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38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467544" y="987574"/>
            <a:ext cx="4176464" cy="762828"/>
          </a:xfrm>
        </p:spPr>
        <p:txBody>
          <a:bodyPr>
            <a:normAutofit/>
          </a:bodyPr>
          <a:lstStyle/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Indeling</a:t>
            </a:r>
            <a:r>
              <a:rPr lang="en-US" dirty="0" smtClean="0"/>
              <a:t> </a:t>
            </a:r>
            <a:r>
              <a:rPr lang="en-US" dirty="0" err="1" smtClean="0"/>
              <a:t>outputbestanden</a:t>
            </a:r>
            <a:r>
              <a:rPr lang="en-US" dirty="0" smtClean="0"/>
              <a:t> - </a:t>
            </a:r>
            <a:r>
              <a:rPr lang="en-US" dirty="0" err="1" smtClean="0"/>
              <a:t>contactpersonen</a:t>
            </a:r>
            <a:endParaRPr lang="nl-NL" dirty="0"/>
          </a:p>
        </p:txBody>
      </p:sp>
      <p:sp>
        <p:nvSpPr>
          <p:cNvPr id="21" name="Tekstvak 20"/>
          <p:cNvSpPr txBox="1"/>
          <p:nvPr/>
        </p:nvSpPr>
        <p:spPr>
          <a:xfrm>
            <a:off x="611560" y="915566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/>
              <a:t>xlsx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4 </a:t>
            </a:r>
            <a:r>
              <a:rPr lang="en-US" sz="1200" dirty="0" err="1" smtClean="0"/>
              <a:t>maanden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a</a:t>
            </a:r>
            <a:r>
              <a:rPr lang="en-US" sz="1200" dirty="0" err="1" smtClean="0"/>
              <a:t>antallen</a:t>
            </a:r>
            <a:r>
              <a:rPr lang="en-US" sz="1200" dirty="0" smtClean="0"/>
              <a:t> </a:t>
            </a:r>
            <a:r>
              <a:rPr lang="en-US" sz="1200" dirty="0" err="1" smtClean="0"/>
              <a:t>en</a:t>
            </a:r>
            <a:r>
              <a:rPr lang="en-US" sz="1200" dirty="0" smtClean="0"/>
              <a:t> </a:t>
            </a:r>
            <a:r>
              <a:rPr lang="en-US" sz="1200" dirty="0" err="1" smtClean="0"/>
              <a:t>gewichten</a:t>
            </a:r>
            <a:endParaRPr lang="en-US" sz="1200" dirty="0" smtClean="0"/>
          </a:p>
          <a:p>
            <a:pPr marL="285750" indent="-285750">
              <a:buFontTx/>
              <a:buChar char="-"/>
            </a:pPr>
            <a:endParaRPr lang="nl-NL" sz="1200" dirty="0"/>
          </a:p>
        </p:txBody>
      </p:sp>
      <p:sp>
        <p:nvSpPr>
          <p:cNvPr id="11" name="Linkeraccolade 10"/>
          <p:cNvSpPr/>
          <p:nvPr/>
        </p:nvSpPr>
        <p:spPr>
          <a:xfrm>
            <a:off x="1382386" y="2049406"/>
            <a:ext cx="235799" cy="22621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/>
        </p:nvSpPr>
        <p:spPr>
          <a:xfrm>
            <a:off x="1133393" y="2803269"/>
            <a:ext cx="353943" cy="70458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nl-NL" sz="1100" dirty="0" smtClean="0"/>
              <a:t>aantallen</a:t>
            </a:r>
            <a:endParaRPr lang="nl-NL" sz="1100" dirty="0"/>
          </a:p>
        </p:txBody>
      </p:sp>
      <p:sp>
        <p:nvSpPr>
          <p:cNvPr id="13" name="Tekstvak 12"/>
          <p:cNvSpPr txBox="1"/>
          <p:nvPr/>
        </p:nvSpPr>
        <p:spPr>
          <a:xfrm>
            <a:off x="1114129" y="4315437"/>
            <a:ext cx="353943" cy="70458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nl-NL" sz="1100" dirty="0" smtClean="0"/>
              <a:t>gewichten</a:t>
            </a:r>
            <a:endParaRPr lang="nl-NL" sz="1100" dirty="0"/>
          </a:p>
        </p:txBody>
      </p:sp>
      <p:sp>
        <p:nvSpPr>
          <p:cNvPr id="14" name="Linkeraccolade 13"/>
          <p:cNvSpPr/>
          <p:nvPr/>
        </p:nvSpPr>
        <p:spPr>
          <a:xfrm>
            <a:off x="1383873" y="4336518"/>
            <a:ext cx="235799" cy="6070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837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39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gui</a:t>
            </a:r>
            <a:endParaRPr lang="en-US" dirty="0" smtClean="0"/>
          </a:p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ui.R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server.R</a:t>
            </a:r>
            <a:endParaRPr lang="en-US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Aanroep</a:t>
            </a:r>
            <a:r>
              <a:rPr lang="en-US" dirty="0" smtClean="0"/>
              <a:t> </a:t>
            </a:r>
            <a:r>
              <a:rPr lang="en-US" dirty="0" err="1" smtClean="0"/>
              <a:t>maken</a:t>
            </a:r>
            <a:r>
              <a:rPr lang="en-US" dirty="0" smtClean="0"/>
              <a:t> </a:t>
            </a:r>
            <a:r>
              <a:rPr lang="en-US" dirty="0" err="1" smtClean="0"/>
              <a:t>outputbestanden</a:t>
            </a:r>
            <a:endParaRPr lang="nl-NL" dirty="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142" y="1131590"/>
            <a:ext cx="797818" cy="678845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3" y="1995686"/>
            <a:ext cx="3312368" cy="1227635"/>
          </a:xfrm>
          <a:prstGeom prst="rect">
            <a:avLst/>
          </a:prstGeom>
        </p:spPr>
      </p:pic>
      <p:pic>
        <p:nvPicPr>
          <p:cNvPr id="14" name="Afbeelding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3363838"/>
            <a:ext cx="3312369" cy="162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9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40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server.R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Voorbereiding</a:t>
            </a: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Bepalen</a:t>
            </a:r>
            <a:r>
              <a:rPr lang="en-US" dirty="0" smtClean="0"/>
              <a:t> </a:t>
            </a:r>
            <a:r>
              <a:rPr lang="en-US" dirty="0" err="1" smtClean="0"/>
              <a:t>maanden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bestandsnamen</a:t>
            </a:r>
            <a:endParaRPr lang="en-US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Haal</a:t>
            </a:r>
            <a:r>
              <a:rPr lang="en-US" dirty="0" smtClean="0"/>
              <a:t> </a:t>
            </a:r>
            <a:r>
              <a:rPr lang="en-US" dirty="0" err="1" smtClean="0"/>
              <a:t>gegevens</a:t>
            </a:r>
            <a:r>
              <a:rPr lang="en-US" dirty="0" smtClean="0"/>
              <a:t> op </a:t>
            </a:r>
            <a:r>
              <a:rPr lang="en-US" dirty="0" err="1" smtClean="0"/>
              <a:t>uit</a:t>
            </a:r>
            <a:r>
              <a:rPr lang="en-US" dirty="0" smtClean="0"/>
              <a:t> database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R</a:t>
            </a:r>
            <a:r>
              <a:rPr lang="en-US" dirty="0" err="1" smtClean="0"/>
              <a:t>oep</a:t>
            </a:r>
            <a:r>
              <a:rPr lang="en-US" dirty="0" smtClean="0"/>
              <a:t> </a:t>
            </a:r>
            <a:r>
              <a:rPr lang="en-US" dirty="0" err="1" smtClean="0"/>
              <a:t>outputbestand_eurostat.R</a:t>
            </a:r>
            <a:r>
              <a:rPr lang="en-US" dirty="0" smtClean="0"/>
              <a:t> </a:t>
            </a:r>
            <a:r>
              <a:rPr lang="en-US" dirty="0" err="1" smtClean="0"/>
              <a:t>aan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Geef</a:t>
            </a:r>
            <a:r>
              <a:rPr lang="en-US" dirty="0" smtClean="0"/>
              <a:t> </a:t>
            </a:r>
            <a:r>
              <a:rPr lang="en-US" dirty="0" err="1" smtClean="0"/>
              <a:t>tekst</a:t>
            </a:r>
            <a:r>
              <a:rPr lang="en-US" dirty="0" smtClean="0"/>
              <a:t> </a:t>
            </a:r>
            <a:r>
              <a:rPr lang="en-US" dirty="0" err="1" smtClean="0"/>
              <a:t>terug</a:t>
            </a:r>
            <a:r>
              <a:rPr lang="en-US" dirty="0" smtClean="0"/>
              <a:t> </a:t>
            </a:r>
            <a:r>
              <a:rPr lang="en-US" dirty="0" err="1" smtClean="0"/>
              <a:t>aan</a:t>
            </a:r>
            <a:r>
              <a:rPr lang="en-US" dirty="0" smtClean="0"/>
              <a:t> </a:t>
            </a:r>
            <a:r>
              <a:rPr lang="en-US" dirty="0" err="1" smtClean="0"/>
              <a:t>ui.R</a:t>
            </a:r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 smtClean="0"/>
              <a:t>outputbestand</a:t>
            </a:r>
            <a:r>
              <a:rPr lang="en-US" dirty="0" smtClean="0"/>
              <a:t> Eurostat op </a:t>
            </a:r>
            <a:r>
              <a:rPr lang="en-US" dirty="0" err="1"/>
              <a:t>hoofdlijnen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3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41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outputbestand_eurostat.R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Verzamelen</a:t>
            </a:r>
            <a:r>
              <a:rPr lang="en-US" dirty="0" smtClean="0"/>
              <a:t>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Formatteren</a:t>
            </a:r>
            <a:r>
              <a:rPr lang="en-US" dirty="0" smtClean="0"/>
              <a:t> data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Wegschrijven</a:t>
            </a:r>
            <a:r>
              <a:rPr lang="en-US" dirty="0" smtClean="0"/>
              <a:t> </a:t>
            </a:r>
            <a:r>
              <a:rPr lang="en-US" dirty="0" err="1" smtClean="0"/>
              <a:t>naar</a:t>
            </a:r>
            <a:r>
              <a:rPr lang="en-US" dirty="0" smtClean="0"/>
              <a:t> Excel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Geef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 </a:t>
            </a:r>
            <a:r>
              <a:rPr lang="en-US" dirty="0" err="1"/>
              <a:t>terug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 smtClean="0"/>
              <a:t>server.R</a:t>
            </a:r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 smtClean="0"/>
              <a:t>outputbestand</a:t>
            </a:r>
            <a:r>
              <a:rPr lang="en-US" dirty="0" smtClean="0"/>
              <a:t> Eurostat </a:t>
            </a:r>
            <a:r>
              <a:rPr lang="en-US" dirty="0"/>
              <a:t>op </a:t>
            </a:r>
            <a:r>
              <a:rPr lang="en-US" dirty="0" err="1"/>
              <a:t>hoofdlijnen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480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42</a:t>
            </a:fld>
            <a:endParaRPr lang="nl-NL" sz="12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Diersoorten - aggregaten</a:t>
            </a:r>
            <a:endParaRPr lang="nl-NL" dirty="0"/>
          </a:p>
        </p:txBody>
      </p:sp>
      <p:pic>
        <p:nvPicPr>
          <p:cNvPr id="5" name="Afbeelding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203598"/>
            <a:ext cx="4999408" cy="3254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8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004281"/>
            <a:ext cx="5760640" cy="3899914"/>
          </a:xfrm>
          <a:prstGeom prst="rect">
            <a:avLst/>
          </a:prstGeom>
        </p:spPr>
      </p:pic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43</a:t>
            </a:fld>
            <a:endParaRPr lang="nl-NL" sz="12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Diersoorten - outputaggregaten</a:t>
            </a:r>
            <a:endParaRPr lang="nl-NL" dirty="0"/>
          </a:p>
        </p:txBody>
      </p:sp>
      <p:sp>
        <p:nvSpPr>
          <p:cNvPr id="6" name="Rechthoek 5"/>
          <p:cNvSpPr/>
          <p:nvPr/>
        </p:nvSpPr>
        <p:spPr>
          <a:xfrm>
            <a:off x="1331640" y="1004281"/>
            <a:ext cx="432048" cy="12730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/>
          <p:cNvSpPr/>
          <p:nvPr/>
        </p:nvSpPr>
        <p:spPr>
          <a:xfrm>
            <a:off x="1331640" y="3003798"/>
            <a:ext cx="432048" cy="12730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/>
          <p:cNvSpPr/>
          <p:nvPr/>
        </p:nvSpPr>
        <p:spPr>
          <a:xfrm>
            <a:off x="4283968" y="3003798"/>
            <a:ext cx="648072" cy="12730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/>
          <p:cNvSpPr/>
          <p:nvPr/>
        </p:nvSpPr>
        <p:spPr>
          <a:xfrm>
            <a:off x="4283968" y="987574"/>
            <a:ext cx="432048" cy="12730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449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44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Vragen</a:t>
            </a:r>
            <a:r>
              <a:rPr lang="en-US" dirty="0" smtClean="0"/>
              <a:t>?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37" y="1504950"/>
            <a:ext cx="22955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5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 smtClean="0"/>
              <a:t>Nicolette de Bruijn en Kenneth Chin-A-Fat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 smtClean="0"/>
              <a:t>Woensdag 27 juni 2018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Statistiek Slachtingen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smtClean="0"/>
              <a:t>Technische zaken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255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46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R</a:t>
            </a:r>
          </a:p>
          <a:p>
            <a:r>
              <a:rPr lang="en-US" dirty="0" smtClean="0"/>
              <a:t>SQL Server</a:t>
            </a:r>
          </a:p>
          <a:p>
            <a:r>
              <a:rPr lang="en-US" dirty="0" err="1" smtClean="0"/>
              <a:t>Git</a:t>
            </a:r>
            <a:endParaRPr lang="en-US" dirty="0" smtClean="0"/>
          </a:p>
          <a:p>
            <a:r>
              <a:rPr lang="en-US" dirty="0" smtClean="0"/>
              <a:t>Logging</a:t>
            </a:r>
          </a:p>
          <a:p>
            <a:r>
              <a:rPr lang="en-US" dirty="0" err="1" smtClean="0"/>
              <a:t>Testen</a:t>
            </a:r>
            <a:endParaRPr lang="en-US" dirty="0" smtClean="0"/>
          </a:p>
          <a:p>
            <a:r>
              <a:rPr lang="en-US" dirty="0" err="1" smtClean="0"/>
              <a:t>Documentatie</a:t>
            </a:r>
            <a:endParaRPr lang="en-US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Technische</a:t>
            </a:r>
            <a:r>
              <a:rPr lang="en-US" dirty="0" smtClean="0"/>
              <a:t> </a:t>
            </a:r>
            <a:r>
              <a:rPr lang="en-US" dirty="0" err="1" smtClean="0"/>
              <a:t>zaken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763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47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R3.4 </a:t>
            </a:r>
            <a:r>
              <a:rPr lang="en-US" dirty="0"/>
              <a:t>32-bit</a:t>
            </a:r>
          </a:p>
          <a:p>
            <a:pPr lvl="1"/>
            <a:r>
              <a:rPr lang="en-US" dirty="0" err="1"/>
              <a:t>Voor</a:t>
            </a:r>
            <a:r>
              <a:rPr lang="en-US" dirty="0"/>
              <a:t> package </a:t>
            </a:r>
            <a:r>
              <a:rPr lang="en-US" dirty="0" err="1"/>
              <a:t>openxlsx</a:t>
            </a:r>
            <a:r>
              <a:rPr lang="en-US" dirty="0"/>
              <a:t> R3.3 of </a:t>
            </a:r>
            <a:r>
              <a:rPr lang="en-US" dirty="0" err="1"/>
              <a:t>hoger</a:t>
            </a:r>
            <a:r>
              <a:rPr lang="en-US" dirty="0"/>
              <a:t> </a:t>
            </a:r>
            <a:r>
              <a:rPr lang="en-US" dirty="0" err="1"/>
              <a:t>nodig</a:t>
            </a:r>
            <a:endParaRPr lang="en-US" dirty="0"/>
          </a:p>
          <a:p>
            <a:pPr lvl="1"/>
            <a:r>
              <a:rPr lang="en-US" dirty="0"/>
              <a:t>64-bit </a:t>
            </a:r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</a:t>
            </a:r>
            <a:r>
              <a:rPr lang="en-US" dirty="0" smtClean="0"/>
              <a:t>W7</a:t>
            </a:r>
          </a:p>
          <a:p>
            <a:pPr lvl="2"/>
            <a:r>
              <a:rPr lang="en-US" dirty="0" err="1" smtClean="0"/>
              <a:t>Systeem</a:t>
            </a:r>
            <a:r>
              <a:rPr lang="en-US" dirty="0" smtClean="0"/>
              <a:t> </a:t>
            </a:r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 smtClean="0"/>
              <a:t>daarom</a:t>
            </a:r>
            <a:r>
              <a:rPr lang="en-US" dirty="0" smtClean="0"/>
              <a:t> </a:t>
            </a:r>
            <a:r>
              <a:rPr lang="en-US" dirty="0" err="1" smtClean="0"/>
              <a:t>wel</a:t>
            </a:r>
            <a:r>
              <a:rPr lang="en-US" dirty="0" smtClean="0"/>
              <a:t> </a:t>
            </a:r>
            <a:r>
              <a:rPr lang="en-US" dirty="0" err="1" smtClean="0"/>
              <a:t>onder</a:t>
            </a:r>
            <a:r>
              <a:rPr lang="en-US" dirty="0" smtClean="0"/>
              <a:t> </a:t>
            </a:r>
            <a:r>
              <a:rPr lang="en-US" dirty="0"/>
              <a:t>W7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smtClean="0"/>
              <a:t>W10</a:t>
            </a:r>
          </a:p>
          <a:p>
            <a:r>
              <a:rPr lang="en-US" dirty="0" err="1" smtClean="0"/>
              <a:t>Versie</a:t>
            </a:r>
            <a:r>
              <a:rPr lang="en-US" dirty="0" smtClean="0"/>
              <a:t> </a:t>
            </a:r>
            <a:r>
              <a:rPr lang="en-US" dirty="0" err="1" smtClean="0"/>
              <a:t>kiezen</a:t>
            </a:r>
            <a:r>
              <a:rPr lang="en-US" dirty="0" smtClean="0"/>
              <a:t> in R-studio</a:t>
            </a:r>
          </a:p>
          <a:p>
            <a:pPr lvl="1"/>
            <a:r>
              <a:rPr lang="en-US" dirty="0" smtClean="0"/>
              <a:t>Tools | Global options</a:t>
            </a:r>
          </a:p>
          <a:p>
            <a:pPr lvl="1"/>
            <a:endParaRPr lang="en-US" dirty="0" smtClean="0"/>
          </a:p>
          <a:p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R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1" y="3869134"/>
            <a:ext cx="5184576" cy="8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48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S0DSQL0015P\I01 (SQL 2016 Analyse Server</a:t>
            </a:r>
            <a:r>
              <a:rPr lang="nl-NL" dirty="0" smtClean="0"/>
              <a:t>)</a:t>
            </a:r>
          </a:p>
          <a:p>
            <a:r>
              <a:rPr lang="nl-NL" dirty="0" smtClean="0"/>
              <a:t>SLACHTINGEN_ANA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SQL Server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976235"/>
            <a:ext cx="2027513" cy="2672950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145267"/>
            <a:ext cx="2822625" cy="150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5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49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http://</a:t>
            </a:r>
            <a:r>
              <a:rPr lang="nl-NL" dirty="0" smtClean="0">
                <a:hlinkClick r:id="rId2"/>
              </a:rPr>
              <a:t>github/git/SBM_Landbouw/Slachtingen.git</a:t>
            </a:r>
            <a:endParaRPr lang="nl-NL" dirty="0" smtClean="0"/>
          </a:p>
          <a:p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927789"/>
            <a:ext cx="7376240" cy="194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4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50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 smtClean="0"/>
              <a:t>locatie</a:t>
            </a:r>
            <a:r>
              <a:rPr lang="en-US" dirty="0" smtClean="0"/>
              <a:t> in app.ini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Gebruikersinteractie</a:t>
            </a:r>
            <a:r>
              <a:rPr lang="en-US" dirty="0" smtClean="0"/>
              <a:t> INFO, rest DEBUG</a:t>
            </a:r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Logging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07654"/>
            <a:ext cx="6696744" cy="754855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124955"/>
            <a:ext cx="7257756" cy="153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2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51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 smtClean="0"/>
              <a:t>Unittesten</a:t>
            </a:r>
            <a:endParaRPr lang="en-US" dirty="0" smtClean="0"/>
          </a:p>
          <a:p>
            <a:r>
              <a:rPr lang="en-US" dirty="0" smtClean="0"/>
              <a:t>End-to-end test</a:t>
            </a:r>
          </a:p>
          <a:p>
            <a:r>
              <a:rPr lang="en-US" dirty="0" err="1" smtClean="0"/>
              <a:t>Acceptatietesten</a:t>
            </a:r>
            <a:endParaRPr lang="en-US" dirty="0" smtClean="0"/>
          </a:p>
          <a:p>
            <a:pPr lvl="1"/>
            <a:r>
              <a:rPr lang="en-US" dirty="0" smtClean="0"/>
              <a:t>door Inge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Testen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6110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52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err="1" smtClean="0"/>
              <a:t>laboratoriumtesten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package </a:t>
            </a:r>
            <a:r>
              <a:rPr lang="en-US" dirty="0" err="1" smtClean="0"/>
              <a:t>testthat</a:t>
            </a:r>
            <a:endParaRPr lang="en-US" dirty="0" smtClean="0"/>
          </a:p>
          <a:p>
            <a:r>
              <a:rPr lang="en-US" dirty="0" err="1" smtClean="0"/>
              <a:t>Geautomatiseerd</a:t>
            </a:r>
            <a:endParaRPr lang="en-US" dirty="0" smtClean="0"/>
          </a:p>
          <a:p>
            <a:r>
              <a:rPr lang="en-US" dirty="0" err="1" smtClean="0"/>
              <a:t>Alleen</a:t>
            </a:r>
            <a:r>
              <a:rPr lang="en-US" dirty="0" smtClean="0"/>
              <a:t> </a:t>
            </a:r>
            <a:r>
              <a:rPr lang="en-US" dirty="0" err="1" smtClean="0"/>
              <a:t>functies</a:t>
            </a:r>
            <a:r>
              <a:rPr lang="en-US" dirty="0" smtClean="0"/>
              <a:t> die </a:t>
            </a:r>
            <a:r>
              <a:rPr lang="en-US" dirty="0" err="1" smtClean="0"/>
              <a:t>goed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unittesten</a:t>
            </a:r>
            <a:r>
              <a:rPr lang="en-US" dirty="0" smtClean="0"/>
              <a:t> </a:t>
            </a:r>
            <a:r>
              <a:rPr lang="en-US" dirty="0" err="1" smtClean="0"/>
              <a:t>zijn</a:t>
            </a:r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Unittesten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763713"/>
            <a:ext cx="20097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1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53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 smtClean="0"/>
              <a:t>Uitvoeren</a:t>
            </a:r>
            <a:r>
              <a:rPr lang="en-US" dirty="0" smtClean="0"/>
              <a:t>: Source </a:t>
            </a:r>
            <a:r>
              <a:rPr lang="en-US" dirty="0" err="1"/>
              <a:t>voer_testen_uit.R</a:t>
            </a:r>
            <a:r>
              <a:rPr lang="en-US" dirty="0"/>
              <a:t> </a:t>
            </a:r>
            <a:r>
              <a:rPr lang="en-US" dirty="0" smtClean="0"/>
              <a:t>in R-Studio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Wat </a:t>
            </a:r>
            <a:r>
              <a:rPr lang="en-US" dirty="0" err="1" smtClean="0"/>
              <a:t>zegt</a:t>
            </a:r>
            <a:r>
              <a:rPr lang="en-US" dirty="0" smtClean="0"/>
              <a:t> het over de </a:t>
            </a:r>
            <a:r>
              <a:rPr lang="en-US" dirty="0" err="1" smtClean="0"/>
              <a:t>kwaliteit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 “</a:t>
            </a:r>
            <a:r>
              <a:rPr lang="en-US" dirty="0" err="1" smtClean="0"/>
              <a:t>Alles</a:t>
            </a:r>
            <a:r>
              <a:rPr lang="en-US" dirty="0" smtClean="0"/>
              <a:t> even </a:t>
            </a:r>
            <a:r>
              <a:rPr lang="en-US" dirty="0" err="1" smtClean="0"/>
              <a:t>aangetikt</a:t>
            </a:r>
            <a:r>
              <a:rPr lang="en-US" dirty="0" smtClean="0"/>
              <a:t>”</a:t>
            </a:r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Unittesten</a:t>
            </a:r>
            <a:r>
              <a:rPr lang="en-US" dirty="0" smtClean="0"/>
              <a:t> - </a:t>
            </a:r>
            <a:r>
              <a:rPr lang="en-US" dirty="0" err="1" smtClean="0"/>
              <a:t>resultaat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03" y="1779662"/>
            <a:ext cx="7413092" cy="190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4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54</a:t>
            </a:fld>
            <a:endParaRPr lang="nl-NL" sz="1200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987574"/>
            <a:ext cx="5544616" cy="3928027"/>
          </a:xfrm>
          <a:prstGeom prst="rect">
            <a:avLst/>
          </a:prstGeom>
        </p:spPr>
      </p:pic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Unittest</a:t>
            </a:r>
            <a:r>
              <a:rPr lang="en-US" dirty="0" smtClean="0"/>
              <a:t>- </a:t>
            </a:r>
            <a:r>
              <a:rPr lang="en-US" dirty="0" err="1" smtClean="0"/>
              <a:t>voorbeeld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050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55</a:t>
            </a:fld>
            <a:endParaRPr lang="nl-NL" sz="1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2" y="2448272"/>
            <a:ext cx="7768287" cy="1419622"/>
          </a:xfrm>
          <a:prstGeom prst="rect">
            <a:avLst/>
          </a:prstGeom>
        </p:spPr>
      </p:pic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 smtClean="0"/>
              <a:t>Stopt</a:t>
            </a:r>
            <a:r>
              <a:rPr lang="en-US" dirty="0" smtClean="0"/>
              <a:t> met </a:t>
            </a:r>
            <a:r>
              <a:rPr lang="en-US" dirty="0" err="1" smtClean="0"/>
              <a:t>unittesten</a:t>
            </a:r>
            <a:r>
              <a:rPr lang="en-US" dirty="0" smtClean="0"/>
              <a:t> </a:t>
            </a:r>
            <a:r>
              <a:rPr lang="en-US" dirty="0" err="1" smtClean="0"/>
              <a:t>zodra</a:t>
            </a:r>
            <a:r>
              <a:rPr lang="en-US" dirty="0" smtClean="0"/>
              <a:t> test </a:t>
            </a:r>
            <a:r>
              <a:rPr lang="en-US" dirty="0" err="1" smtClean="0"/>
              <a:t>niet</a:t>
            </a:r>
            <a:r>
              <a:rPr lang="en-US" dirty="0" smtClean="0"/>
              <a:t> </a:t>
            </a:r>
            <a:r>
              <a:rPr lang="en-US" dirty="0" err="1" smtClean="0"/>
              <a:t>geslaagd</a:t>
            </a:r>
            <a:r>
              <a:rPr lang="en-US" dirty="0" smtClean="0"/>
              <a:t> is</a:t>
            </a:r>
          </a:p>
          <a:p>
            <a:r>
              <a:rPr lang="en-US" dirty="0" err="1" smtClean="0"/>
              <a:t>Dus</a:t>
            </a:r>
            <a:r>
              <a:rPr lang="en-US" dirty="0" smtClean="0"/>
              <a:t> </a:t>
            </a:r>
            <a:r>
              <a:rPr lang="en-US" dirty="0" err="1" smtClean="0"/>
              <a:t>eerst</a:t>
            </a:r>
            <a:r>
              <a:rPr lang="en-US" dirty="0" smtClean="0"/>
              <a:t> </a:t>
            </a:r>
            <a:r>
              <a:rPr lang="en-US" dirty="0" err="1" smtClean="0"/>
              <a:t>oplossen</a:t>
            </a:r>
            <a:r>
              <a:rPr lang="en-US" dirty="0" smtClean="0"/>
              <a:t> </a:t>
            </a:r>
            <a:r>
              <a:rPr lang="en-US" dirty="0" err="1" smtClean="0"/>
              <a:t>voordat</a:t>
            </a:r>
            <a:r>
              <a:rPr lang="en-US" dirty="0" smtClean="0"/>
              <a:t> je </a:t>
            </a:r>
            <a:r>
              <a:rPr lang="en-US" dirty="0" err="1" smtClean="0"/>
              <a:t>verder</a:t>
            </a:r>
            <a:r>
              <a:rPr lang="en-US" dirty="0" smtClean="0"/>
              <a:t> </a:t>
            </a:r>
            <a:r>
              <a:rPr lang="en-US" dirty="0" err="1" smtClean="0"/>
              <a:t>kan</a:t>
            </a:r>
            <a:endParaRPr lang="en-US" dirty="0" smtClean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Unittesten</a:t>
            </a:r>
            <a:r>
              <a:rPr lang="en-US" dirty="0" smtClean="0"/>
              <a:t> – test </a:t>
            </a:r>
            <a:r>
              <a:rPr lang="en-US" dirty="0" err="1" smtClean="0"/>
              <a:t>niet</a:t>
            </a:r>
            <a:r>
              <a:rPr lang="en-US" dirty="0" smtClean="0"/>
              <a:t> </a:t>
            </a:r>
            <a:r>
              <a:rPr lang="en-US" dirty="0" err="1" smtClean="0"/>
              <a:t>geslaagd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975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56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End-to-end test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800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57</a:t>
            </a:fld>
            <a:endParaRPr lang="nl-NL" sz="1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88367"/>
            <a:ext cx="3276600" cy="3686175"/>
          </a:xfrm>
          <a:prstGeom prst="rect">
            <a:avLst/>
          </a:prstGeom>
        </p:spPr>
      </p:pic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 smtClean="0"/>
              <a:t>Ontwikkeldocumentatie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buiten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endParaRPr lang="en-US" dirty="0" smtClean="0"/>
          </a:p>
          <a:p>
            <a:r>
              <a:rPr lang="en-US" dirty="0" err="1" smtClean="0"/>
              <a:t>Gebruikershandleiding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in www-map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Documentatie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158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200" smtClean="0"/>
              <a:pPr algn="ctr"/>
              <a:t>58</a:t>
            </a:fld>
            <a:endParaRPr lang="nl-NL" sz="12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 smtClean="0"/>
              <a:t>Vragen</a:t>
            </a:r>
            <a:r>
              <a:rPr lang="en-US" dirty="0" smtClean="0"/>
              <a:t>?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37" y="1504950"/>
            <a:ext cx="22955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6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Aangepast ontwerp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BS Powerpoint sjabloon.potx" id="{3F84EC74-2453-4463-BD10-B2CF18A54BA4}" vid="{0E4E9784-1400-4F35-9B79-2A92AF0134E7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CBS Powerpoint sjabloon</Template>
  <TotalTime>0</TotalTime>
  <Words>875</Words>
  <Application>Microsoft Office PowerPoint</Application>
  <PresentationFormat>Diavoorstelling (16:9)</PresentationFormat>
  <Paragraphs>375</Paragraphs>
  <Slides>58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58</vt:i4>
      </vt:variant>
    </vt:vector>
  </HeadingPairs>
  <TitlesOfParts>
    <vt:vector size="61" baseType="lpstr">
      <vt:lpstr>Arial</vt:lpstr>
      <vt:lpstr>Calibri</vt:lpstr>
      <vt:lpstr>1_Aangepast ontwerp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CBS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Chin-A-Fat, K.K. (Kenneth)</dc:creator>
  <cp:lastModifiedBy>Vaarhorst, A.A.M. (Anika)</cp:lastModifiedBy>
  <cp:revision>113</cp:revision>
  <dcterms:created xsi:type="dcterms:W3CDTF">2018-05-24T06:53:48Z</dcterms:created>
  <dcterms:modified xsi:type="dcterms:W3CDTF">2023-03-14T14:27:01Z</dcterms:modified>
</cp:coreProperties>
</file>